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Clarendon Narrow" panose="020B0604020202020204" charset="0"/>
      <p:regular r:id="rId15"/>
    </p:embeddedFont>
    <p:embeddedFont>
      <p:font typeface="Helios Bold" panose="020B0604020202020204" charset="0"/>
      <p:regular r:id="rId16"/>
    </p:embeddedFont>
    <p:embeddedFont>
      <p:font typeface="Helvetica Now" panose="020B0604020202020204" charset="0"/>
      <p:regular r:id="rId17"/>
    </p:embeddedFont>
    <p:embeddedFont>
      <p:font typeface="Helvetica Now Bold" panose="020B0604020202020204" charset="0"/>
      <p:regular r:id="rId18"/>
    </p:embeddedFont>
    <p:embeddedFont>
      <p:font typeface="Helvetica Now Italics" panose="020B0604020202020204" charset="0"/>
      <p:regular r:id="rId19"/>
    </p:embeddedFont>
    <p:embeddedFont>
      <p:font typeface="Roboto Bold" panose="020B0604020202020204" charset="0"/>
      <p:regular r:id="rId20"/>
    </p:embeddedFont>
    <p:embeddedFont>
      <p:font typeface="Symphony Bold" panose="020B0604020202020204" charset="0"/>
      <p:regular r:id="rId21"/>
    </p:embeddedFon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41003"/>
            <a:ext cx="18288000" cy="5048431"/>
            <a:chOff x="0" y="0"/>
            <a:chExt cx="1472189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2189" cy="406400"/>
            </a:xfrm>
            <a:custGeom>
              <a:avLst/>
              <a:gdLst/>
              <a:ahLst/>
              <a:cxnLst/>
              <a:rect l="l" t="t" r="r" b="b"/>
              <a:pathLst>
                <a:path w="1472189" h="406400">
                  <a:moveTo>
                    <a:pt x="1268989" y="0"/>
                  </a:moveTo>
                  <a:cubicBezTo>
                    <a:pt x="1381213" y="0"/>
                    <a:pt x="1472189" y="90976"/>
                    <a:pt x="1472189" y="203200"/>
                  </a:cubicBezTo>
                  <a:cubicBezTo>
                    <a:pt x="1472189" y="315424"/>
                    <a:pt x="1381213" y="406400"/>
                    <a:pt x="12689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1268989" y="0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721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17074" y="1201219"/>
            <a:ext cx="6653852" cy="1757770"/>
            <a:chOff x="0" y="0"/>
            <a:chExt cx="8871803" cy="234369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1771106"/>
              <a:ext cx="572587" cy="57258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58777" y="1771106"/>
              <a:ext cx="572587" cy="57258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323564" y="1771106"/>
              <a:ext cx="572587" cy="57258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8100" y="0"/>
              <a:ext cx="537767" cy="2057400"/>
              <a:chOff x="0" y="0"/>
              <a:chExt cx="106226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679192" y="0"/>
              <a:ext cx="537767" cy="2057400"/>
              <a:chOff x="0" y="0"/>
              <a:chExt cx="106226" cy="406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334560" y="0"/>
              <a:ext cx="537767" cy="2057400"/>
              <a:chOff x="0" y="0"/>
              <a:chExt cx="106226" cy="406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975652" y="1771106"/>
              <a:ext cx="572587" cy="572587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634429" y="1771106"/>
              <a:ext cx="572587" cy="572587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299216" y="1771106"/>
              <a:ext cx="572587" cy="572587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001052" y="0"/>
              <a:ext cx="537767" cy="2057400"/>
              <a:chOff x="0" y="0"/>
              <a:chExt cx="106226" cy="4064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42144" y="0"/>
              <a:ext cx="537767" cy="2057400"/>
              <a:chOff x="0" y="0"/>
              <a:chExt cx="106226" cy="406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297511" y="0"/>
              <a:ext cx="537767" cy="2057400"/>
              <a:chOff x="0" y="0"/>
              <a:chExt cx="106226" cy="4064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5" name="Freeform 45"/>
          <p:cNvSpPr/>
          <p:nvPr/>
        </p:nvSpPr>
        <p:spPr>
          <a:xfrm>
            <a:off x="14377443" y="-735280"/>
            <a:ext cx="4231213" cy="2815384"/>
          </a:xfrm>
          <a:custGeom>
            <a:avLst/>
            <a:gdLst/>
            <a:ahLst/>
            <a:cxnLst/>
            <a:rect l="l" t="t" r="r" b="b"/>
            <a:pathLst>
              <a:path w="4231213" h="2815384">
                <a:moveTo>
                  <a:pt x="0" y="0"/>
                </a:moveTo>
                <a:lnTo>
                  <a:pt x="4231213" y="0"/>
                </a:lnTo>
                <a:lnTo>
                  <a:pt x="4231213" y="2815384"/>
                </a:lnTo>
                <a:lnTo>
                  <a:pt x="0" y="2815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794950" y="2883784"/>
            <a:ext cx="14698100" cy="188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8"/>
              </a:lnSpc>
              <a:spcBef>
                <a:spcPct val="0"/>
              </a:spcBef>
            </a:pPr>
            <a:r>
              <a:rPr lang="en-US" sz="9927">
                <a:solidFill>
                  <a:srgbClr val="F3F0ED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MS Capstone Project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31108" y="5732148"/>
            <a:ext cx="14025783" cy="155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i="1">
                <a:solidFill>
                  <a:srgbClr val="F3F0ED"/>
                </a:solidFill>
                <a:latin typeface="Helvetica Now Italics"/>
                <a:ea typeface="Helvetica Now Italics"/>
                <a:cs typeface="Helvetica Now Italics"/>
                <a:sym typeface="Helvetica Now Italics"/>
              </a:rPr>
              <a:t>A Comparative Customer Churn Prediction and Retention Strategy Analysis Across SaaS, Telecom, and Credit Card Subscription Businesses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i="1">
              <a:solidFill>
                <a:srgbClr val="F3F0ED"/>
              </a:solidFill>
              <a:latin typeface="Helvetica Now Italics"/>
              <a:ea typeface="Helvetica Now Italics"/>
              <a:cs typeface="Helvetica Now Italics"/>
              <a:sym typeface="Helvetica Now Italic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7327559" y="8275324"/>
            <a:ext cx="2960566" cy="52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 b="1" spc="-133">
                <a:solidFill>
                  <a:srgbClr val="1C295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Presented by: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169228" y="8963334"/>
            <a:ext cx="7277228" cy="52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 b="1" spc="-133">
                <a:solidFill>
                  <a:srgbClr val="1C295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Sadikshya Shrestha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-21491" y="4554459"/>
            <a:ext cx="18309491" cy="96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9"/>
              </a:lnSpc>
              <a:spcBef>
                <a:spcPct val="0"/>
              </a:spcBef>
            </a:pPr>
            <a:r>
              <a:rPr lang="en-US" sz="5128">
                <a:solidFill>
                  <a:srgbClr val="F3F0ED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Mid - Semester Presentation Highlight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24240" y="2263206"/>
            <a:ext cx="5046848" cy="1136819"/>
            <a:chOff x="0" y="0"/>
            <a:chExt cx="1855940" cy="418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5940" cy="418057"/>
            </a:xfrm>
            <a:custGeom>
              <a:avLst/>
              <a:gdLst/>
              <a:ahLst/>
              <a:cxnLst/>
              <a:rect l="l" t="t" r="r" b="b"/>
              <a:pathLst>
                <a:path w="1855940" h="418057">
                  <a:moveTo>
                    <a:pt x="55224" y="0"/>
                  </a:moveTo>
                  <a:lnTo>
                    <a:pt x="1800715" y="0"/>
                  </a:lnTo>
                  <a:cubicBezTo>
                    <a:pt x="1831215" y="0"/>
                    <a:pt x="1855940" y="24725"/>
                    <a:pt x="1855940" y="55224"/>
                  </a:cubicBezTo>
                  <a:lnTo>
                    <a:pt x="1855940" y="362832"/>
                  </a:lnTo>
                  <a:cubicBezTo>
                    <a:pt x="1855940" y="393332"/>
                    <a:pt x="1831215" y="418057"/>
                    <a:pt x="1800715" y="418057"/>
                  </a:cubicBezTo>
                  <a:lnTo>
                    <a:pt x="55224" y="418057"/>
                  </a:lnTo>
                  <a:cubicBezTo>
                    <a:pt x="24725" y="418057"/>
                    <a:pt x="0" y="393332"/>
                    <a:pt x="0" y="362832"/>
                  </a:cubicBezTo>
                  <a:lnTo>
                    <a:pt x="0" y="55224"/>
                  </a:lnTo>
                  <a:cubicBezTo>
                    <a:pt x="0" y="24725"/>
                    <a:pt x="24725" y="0"/>
                    <a:pt x="5522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55940" cy="456157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94090" y="2355266"/>
            <a:ext cx="655394" cy="104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4"/>
              </a:lnSpc>
            </a:pPr>
            <a:r>
              <a:rPr lang="en-US" sz="6087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14188" y="2364923"/>
            <a:ext cx="4858769" cy="112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166" spc="-9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Problem Statement &amp; </a:t>
            </a:r>
          </a:p>
          <a:p>
            <a:pPr algn="l">
              <a:lnSpc>
                <a:spcPts val="3032"/>
              </a:lnSpc>
            </a:pPr>
            <a:r>
              <a:rPr lang="en-US" sz="2166" spc="-9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Project Objectives</a:t>
            </a:r>
          </a:p>
          <a:p>
            <a:pPr algn="l">
              <a:lnSpc>
                <a:spcPts val="3032"/>
              </a:lnSpc>
              <a:spcBef>
                <a:spcPct val="0"/>
              </a:spcBef>
            </a:pPr>
            <a:endParaRPr lang="en-US" sz="2166" spc="-95">
              <a:solidFill>
                <a:srgbClr val="F3F0ED"/>
              </a:solidFill>
              <a:latin typeface="Helvetica Now"/>
              <a:ea typeface="Helvetica Now"/>
              <a:cs typeface="Helvetica Now"/>
              <a:sym typeface="Helvetica Now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3163127" y="2479091"/>
            <a:ext cx="0" cy="702771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224240" y="3782670"/>
            <a:ext cx="5046848" cy="1136819"/>
            <a:chOff x="0" y="0"/>
            <a:chExt cx="1855940" cy="4180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55940" cy="418057"/>
            </a:xfrm>
            <a:custGeom>
              <a:avLst/>
              <a:gdLst/>
              <a:ahLst/>
              <a:cxnLst/>
              <a:rect l="l" t="t" r="r" b="b"/>
              <a:pathLst>
                <a:path w="1855940" h="418057">
                  <a:moveTo>
                    <a:pt x="55224" y="0"/>
                  </a:moveTo>
                  <a:lnTo>
                    <a:pt x="1800715" y="0"/>
                  </a:lnTo>
                  <a:cubicBezTo>
                    <a:pt x="1831215" y="0"/>
                    <a:pt x="1855940" y="24725"/>
                    <a:pt x="1855940" y="55224"/>
                  </a:cubicBezTo>
                  <a:lnTo>
                    <a:pt x="1855940" y="362832"/>
                  </a:lnTo>
                  <a:cubicBezTo>
                    <a:pt x="1855940" y="393332"/>
                    <a:pt x="1831215" y="418057"/>
                    <a:pt x="1800715" y="418057"/>
                  </a:cubicBezTo>
                  <a:lnTo>
                    <a:pt x="55224" y="418057"/>
                  </a:lnTo>
                  <a:cubicBezTo>
                    <a:pt x="24725" y="418057"/>
                    <a:pt x="0" y="393332"/>
                    <a:pt x="0" y="362832"/>
                  </a:cubicBezTo>
                  <a:lnTo>
                    <a:pt x="0" y="55224"/>
                  </a:lnTo>
                  <a:cubicBezTo>
                    <a:pt x="0" y="24725"/>
                    <a:pt x="24725" y="0"/>
                    <a:pt x="5522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55940" cy="456157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94090" y="3874730"/>
            <a:ext cx="655394" cy="104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4"/>
              </a:lnSpc>
            </a:pPr>
            <a:r>
              <a:rPr lang="en-US" sz="6087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29600" y="4149480"/>
            <a:ext cx="4510396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  <a:spcBef>
                <a:spcPct val="0"/>
              </a:spcBef>
            </a:pPr>
            <a:r>
              <a:rPr lang="en-US" sz="2166" spc="-9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Data Set Overview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3163127" y="3998555"/>
            <a:ext cx="0" cy="702771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259106" y="5235959"/>
            <a:ext cx="5011982" cy="1136819"/>
            <a:chOff x="0" y="0"/>
            <a:chExt cx="1843118" cy="4180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43118" cy="418057"/>
            </a:xfrm>
            <a:custGeom>
              <a:avLst/>
              <a:gdLst/>
              <a:ahLst/>
              <a:cxnLst/>
              <a:rect l="l" t="t" r="r" b="b"/>
              <a:pathLst>
                <a:path w="1843118" h="418057">
                  <a:moveTo>
                    <a:pt x="55609" y="0"/>
                  </a:moveTo>
                  <a:lnTo>
                    <a:pt x="1787509" y="0"/>
                  </a:lnTo>
                  <a:cubicBezTo>
                    <a:pt x="1802258" y="0"/>
                    <a:pt x="1816402" y="5859"/>
                    <a:pt x="1826831" y="16287"/>
                  </a:cubicBezTo>
                  <a:cubicBezTo>
                    <a:pt x="1837259" y="26716"/>
                    <a:pt x="1843118" y="40860"/>
                    <a:pt x="1843118" y="55609"/>
                  </a:cubicBezTo>
                  <a:lnTo>
                    <a:pt x="1843118" y="362448"/>
                  </a:lnTo>
                  <a:cubicBezTo>
                    <a:pt x="1843118" y="393160"/>
                    <a:pt x="1818221" y="418057"/>
                    <a:pt x="1787509" y="418057"/>
                  </a:cubicBezTo>
                  <a:lnTo>
                    <a:pt x="55609" y="418057"/>
                  </a:lnTo>
                  <a:cubicBezTo>
                    <a:pt x="40860" y="418057"/>
                    <a:pt x="26716" y="412198"/>
                    <a:pt x="16287" y="401769"/>
                  </a:cubicBezTo>
                  <a:cubicBezTo>
                    <a:pt x="5859" y="391341"/>
                    <a:pt x="0" y="377196"/>
                    <a:pt x="0" y="362448"/>
                  </a:cubicBezTo>
                  <a:lnTo>
                    <a:pt x="0" y="55609"/>
                  </a:lnTo>
                  <a:cubicBezTo>
                    <a:pt x="0" y="40860"/>
                    <a:pt x="5859" y="26716"/>
                    <a:pt x="16287" y="16287"/>
                  </a:cubicBezTo>
                  <a:cubicBezTo>
                    <a:pt x="26716" y="5859"/>
                    <a:pt x="40860" y="0"/>
                    <a:pt x="55609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43118" cy="456157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28956" y="5328019"/>
            <a:ext cx="655394" cy="104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4"/>
              </a:lnSpc>
            </a:pPr>
            <a:r>
              <a:rPr lang="en-US" sz="6087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61844" y="5547211"/>
            <a:ext cx="3511891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  <a:spcBef>
                <a:spcPct val="0"/>
              </a:spcBef>
            </a:pPr>
            <a:r>
              <a:rPr lang="en-US" sz="2166" spc="-9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Data Preparation Approach 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3197994" y="5451844"/>
            <a:ext cx="0" cy="702771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2259106" y="6798102"/>
            <a:ext cx="5011982" cy="1136819"/>
            <a:chOff x="0" y="0"/>
            <a:chExt cx="1843118" cy="4180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43118" cy="418057"/>
            </a:xfrm>
            <a:custGeom>
              <a:avLst/>
              <a:gdLst/>
              <a:ahLst/>
              <a:cxnLst/>
              <a:rect l="l" t="t" r="r" b="b"/>
              <a:pathLst>
                <a:path w="1843118" h="418057">
                  <a:moveTo>
                    <a:pt x="55609" y="0"/>
                  </a:moveTo>
                  <a:lnTo>
                    <a:pt x="1787509" y="0"/>
                  </a:lnTo>
                  <a:cubicBezTo>
                    <a:pt x="1802258" y="0"/>
                    <a:pt x="1816402" y="5859"/>
                    <a:pt x="1826831" y="16287"/>
                  </a:cubicBezTo>
                  <a:cubicBezTo>
                    <a:pt x="1837259" y="26716"/>
                    <a:pt x="1843118" y="40860"/>
                    <a:pt x="1843118" y="55609"/>
                  </a:cubicBezTo>
                  <a:lnTo>
                    <a:pt x="1843118" y="362448"/>
                  </a:lnTo>
                  <a:cubicBezTo>
                    <a:pt x="1843118" y="393160"/>
                    <a:pt x="1818221" y="418057"/>
                    <a:pt x="1787509" y="418057"/>
                  </a:cubicBezTo>
                  <a:lnTo>
                    <a:pt x="55609" y="418057"/>
                  </a:lnTo>
                  <a:cubicBezTo>
                    <a:pt x="40860" y="418057"/>
                    <a:pt x="26716" y="412198"/>
                    <a:pt x="16287" y="401769"/>
                  </a:cubicBezTo>
                  <a:cubicBezTo>
                    <a:pt x="5859" y="391341"/>
                    <a:pt x="0" y="377196"/>
                    <a:pt x="0" y="362448"/>
                  </a:cubicBezTo>
                  <a:lnTo>
                    <a:pt x="0" y="55609"/>
                  </a:lnTo>
                  <a:cubicBezTo>
                    <a:pt x="0" y="40860"/>
                    <a:pt x="5859" y="26716"/>
                    <a:pt x="16287" y="16287"/>
                  </a:cubicBezTo>
                  <a:cubicBezTo>
                    <a:pt x="26716" y="5859"/>
                    <a:pt x="40860" y="0"/>
                    <a:pt x="55609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843118" cy="456157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528956" y="6890162"/>
            <a:ext cx="655394" cy="104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4"/>
              </a:lnSpc>
            </a:pPr>
            <a:r>
              <a:rPr lang="en-US" sz="6087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34169" y="6975887"/>
            <a:ext cx="3439566" cy="74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2"/>
              </a:lnSpc>
              <a:spcBef>
                <a:spcPct val="0"/>
              </a:spcBef>
            </a:pPr>
            <a:r>
              <a:rPr lang="en-US" sz="2166" spc="-9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Exploratory Data Analysis Insights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3197994" y="7013987"/>
            <a:ext cx="0" cy="702771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2224240" y="8315922"/>
            <a:ext cx="5046848" cy="1050588"/>
            <a:chOff x="0" y="0"/>
            <a:chExt cx="2008275" cy="41805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08275" cy="418057"/>
            </a:xfrm>
            <a:custGeom>
              <a:avLst/>
              <a:gdLst/>
              <a:ahLst/>
              <a:cxnLst/>
              <a:rect l="l" t="t" r="r" b="b"/>
              <a:pathLst>
                <a:path w="2008275" h="418057">
                  <a:moveTo>
                    <a:pt x="55224" y="0"/>
                  </a:moveTo>
                  <a:lnTo>
                    <a:pt x="1953050" y="0"/>
                  </a:lnTo>
                  <a:cubicBezTo>
                    <a:pt x="1967697" y="0"/>
                    <a:pt x="1981743" y="5818"/>
                    <a:pt x="1992100" y="16175"/>
                  </a:cubicBezTo>
                  <a:cubicBezTo>
                    <a:pt x="2002456" y="26531"/>
                    <a:pt x="2008275" y="40578"/>
                    <a:pt x="2008275" y="55224"/>
                  </a:cubicBezTo>
                  <a:lnTo>
                    <a:pt x="2008275" y="362832"/>
                  </a:lnTo>
                  <a:cubicBezTo>
                    <a:pt x="2008275" y="393332"/>
                    <a:pt x="1983550" y="418057"/>
                    <a:pt x="1953050" y="418057"/>
                  </a:cubicBezTo>
                  <a:lnTo>
                    <a:pt x="55224" y="418057"/>
                  </a:lnTo>
                  <a:cubicBezTo>
                    <a:pt x="24725" y="418057"/>
                    <a:pt x="0" y="393332"/>
                    <a:pt x="0" y="362832"/>
                  </a:cubicBezTo>
                  <a:lnTo>
                    <a:pt x="0" y="55224"/>
                  </a:lnTo>
                  <a:cubicBezTo>
                    <a:pt x="0" y="24725"/>
                    <a:pt x="24725" y="0"/>
                    <a:pt x="5522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008275" cy="456157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496668" y="8301376"/>
            <a:ext cx="596029" cy="96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5625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92706" y="5430767"/>
            <a:ext cx="5656499" cy="467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2"/>
              </a:lnSpc>
              <a:spcBef>
                <a:spcPct val="0"/>
              </a:spcBef>
            </a:pPr>
            <a:r>
              <a:rPr lang="en-US" sz="2716" spc="-119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Modeling Methodology 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12633112" y="5250860"/>
            <a:ext cx="0" cy="881348"/>
          </a:xfrm>
          <a:prstGeom prst="line">
            <a:avLst/>
          </a:prstGeom>
          <a:ln w="38100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9591394" y="2320222"/>
            <a:ext cx="5271195" cy="1079804"/>
            <a:chOff x="0" y="0"/>
            <a:chExt cx="2040795" cy="4180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40795" cy="418057"/>
            </a:xfrm>
            <a:custGeom>
              <a:avLst/>
              <a:gdLst/>
              <a:ahLst/>
              <a:cxnLst/>
              <a:rect l="l" t="t" r="r" b="b"/>
              <a:pathLst>
                <a:path w="2040795" h="418057">
                  <a:moveTo>
                    <a:pt x="52874" y="0"/>
                  </a:moveTo>
                  <a:lnTo>
                    <a:pt x="1987921" y="0"/>
                  </a:lnTo>
                  <a:cubicBezTo>
                    <a:pt x="2017122" y="0"/>
                    <a:pt x="2040795" y="23672"/>
                    <a:pt x="2040795" y="52874"/>
                  </a:cubicBezTo>
                  <a:lnTo>
                    <a:pt x="2040795" y="365183"/>
                  </a:lnTo>
                  <a:cubicBezTo>
                    <a:pt x="2040795" y="394384"/>
                    <a:pt x="2017122" y="418057"/>
                    <a:pt x="1987921" y="418057"/>
                  </a:cubicBezTo>
                  <a:lnTo>
                    <a:pt x="52874" y="418057"/>
                  </a:lnTo>
                  <a:cubicBezTo>
                    <a:pt x="23672" y="418057"/>
                    <a:pt x="0" y="394384"/>
                    <a:pt x="0" y="365183"/>
                  </a:cubicBezTo>
                  <a:lnTo>
                    <a:pt x="0" y="52874"/>
                  </a:lnTo>
                  <a:cubicBezTo>
                    <a:pt x="0" y="23672"/>
                    <a:pt x="23672" y="0"/>
                    <a:pt x="5287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040795" cy="456157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3404618" y="8543797"/>
            <a:ext cx="821932" cy="130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61"/>
              </a:lnSpc>
            </a:pPr>
            <a:r>
              <a:rPr lang="en-US" sz="7634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703253" y="8876104"/>
            <a:ext cx="5656499" cy="467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2"/>
              </a:lnSpc>
              <a:spcBef>
                <a:spcPct val="0"/>
              </a:spcBef>
            </a:pPr>
            <a:r>
              <a:rPr lang="en-US" sz="2716" spc="-119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Conclusion &amp; Recommendations</a:t>
            </a:r>
          </a:p>
        </p:txBody>
      </p:sp>
      <p:sp>
        <p:nvSpPr>
          <p:cNvPr id="40" name="AutoShape 40"/>
          <p:cNvSpPr/>
          <p:nvPr/>
        </p:nvSpPr>
        <p:spPr>
          <a:xfrm flipV="1">
            <a:off x="14243660" y="8696197"/>
            <a:ext cx="0" cy="881348"/>
          </a:xfrm>
          <a:prstGeom prst="line">
            <a:avLst/>
          </a:prstGeom>
          <a:ln w="38100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3828696" y="1133475"/>
            <a:ext cx="10630608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Table of Contents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AutoShape 45"/>
          <p:cNvSpPr/>
          <p:nvPr/>
        </p:nvSpPr>
        <p:spPr>
          <a:xfrm flipV="1">
            <a:off x="3106511" y="8445133"/>
            <a:ext cx="0" cy="649464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3541659" y="8569882"/>
            <a:ext cx="3128011" cy="340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2"/>
              </a:lnSpc>
              <a:spcBef>
                <a:spcPct val="0"/>
              </a:spcBef>
            </a:pPr>
            <a:r>
              <a:rPr lang="en-US" sz="2001" spc="-88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Modeling Methodolgy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90360" y="2410979"/>
            <a:ext cx="622524" cy="98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8"/>
              </a:lnSpc>
            </a:pPr>
            <a:r>
              <a:rPr lang="en-US" sz="5782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6</a:t>
            </a:r>
          </a:p>
        </p:txBody>
      </p:sp>
      <p:sp>
        <p:nvSpPr>
          <p:cNvPr id="48" name="AutoShape 48"/>
          <p:cNvSpPr/>
          <p:nvPr/>
        </p:nvSpPr>
        <p:spPr>
          <a:xfrm flipV="1">
            <a:off x="10527312" y="2552956"/>
            <a:ext cx="0" cy="667525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10889028" y="2662571"/>
            <a:ext cx="4432082" cy="34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57" spc="-90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Preliminary Visualization Work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591394" y="3782670"/>
            <a:ext cx="5271195" cy="1045722"/>
            <a:chOff x="0" y="0"/>
            <a:chExt cx="2154622" cy="42744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54622" cy="427443"/>
            </a:xfrm>
            <a:custGeom>
              <a:avLst/>
              <a:gdLst/>
              <a:ahLst/>
              <a:cxnLst/>
              <a:rect l="l" t="t" r="r" b="b"/>
              <a:pathLst>
                <a:path w="2154622" h="427443">
                  <a:moveTo>
                    <a:pt x="52874" y="0"/>
                  </a:moveTo>
                  <a:lnTo>
                    <a:pt x="2101748" y="0"/>
                  </a:lnTo>
                  <a:cubicBezTo>
                    <a:pt x="2115771" y="0"/>
                    <a:pt x="2129220" y="5571"/>
                    <a:pt x="2139136" y="15486"/>
                  </a:cubicBezTo>
                  <a:cubicBezTo>
                    <a:pt x="2149052" y="25402"/>
                    <a:pt x="2154622" y="38851"/>
                    <a:pt x="2154622" y="52874"/>
                  </a:cubicBezTo>
                  <a:lnTo>
                    <a:pt x="2154622" y="374569"/>
                  </a:lnTo>
                  <a:cubicBezTo>
                    <a:pt x="2154622" y="403771"/>
                    <a:pt x="2130950" y="427443"/>
                    <a:pt x="2101748" y="427443"/>
                  </a:cubicBezTo>
                  <a:lnTo>
                    <a:pt x="52874" y="427443"/>
                  </a:lnTo>
                  <a:cubicBezTo>
                    <a:pt x="23672" y="427443"/>
                    <a:pt x="0" y="403771"/>
                    <a:pt x="0" y="374569"/>
                  </a:cubicBezTo>
                  <a:lnTo>
                    <a:pt x="0" y="52874"/>
                  </a:lnTo>
                  <a:cubicBezTo>
                    <a:pt x="0" y="23672"/>
                    <a:pt x="23672" y="0"/>
                    <a:pt x="5287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154622" cy="465543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820475" y="3961758"/>
            <a:ext cx="4197937" cy="675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sz="1948" spc="-8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Challenges Encountered and </a:t>
            </a:r>
          </a:p>
          <a:p>
            <a:pPr algn="l">
              <a:lnSpc>
                <a:spcPts val="2728"/>
              </a:lnSpc>
              <a:spcBef>
                <a:spcPct val="0"/>
              </a:spcBef>
            </a:pPr>
            <a:r>
              <a:rPr lang="en-US" sz="1948" spc="-8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Mitigation Strategy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88232" y="3895083"/>
            <a:ext cx="589636" cy="93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1"/>
              </a:lnSpc>
            </a:pPr>
            <a:r>
              <a:rPr lang="en-US" sz="5476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7</a:t>
            </a:r>
          </a:p>
        </p:txBody>
      </p:sp>
      <p:sp>
        <p:nvSpPr>
          <p:cNvPr id="55" name="AutoShape 55"/>
          <p:cNvSpPr/>
          <p:nvPr/>
        </p:nvSpPr>
        <p:spPr>
          <a:xfrm flipV="1">
            <a:off x="10491534" y="3977920"/>
            <a:ext cx="0" cy="632260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Group 56"/>
          <p:cNvGrpSpPr/>
          <p:nvPr/>
        </p:nvGrpSpPr>
        <p:grpSpPr>
          <a:xfrm>
            <a:off x="9591394" y="5225950"/>
            <a:ext cx="5271195" cy="1045722"/>
            <a:chOff x="0" y="0"/>
            <a:chExt cx="2154622" cy="42744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54622" cy="427443"/>
            </a:xfrm>
            <a:custGeom>
              <a:avLst/>
              <a:gdLst/>
              <a:ahLst/>
              <a:cxnLst/>
              <a:rect l="l" t="t" r="r" b="b"/>
              <a:pathLst>
                <a:path w="2154622" h="427443">
                  <a:moveTo>
                    <a:pt x="52874" y="0"/>
                  </a:moveTo>
                  <a:lnTo>
                    <a:pt x="2101748" y="0"/>
                  </a:lnTo>
                  <a:cubicBezTo>
                    <a:pt x="2115771" y="0"/>
                    <a:pt x="2129220" y="5571"/>
                    <a:pt x="2139136" y="15486"/>
                  </a:cubicBezTo>
                  <a:cubicBezTo>
                    <a:pt x="2149052" y="25402"/>
                    <a:pt x="2154622" y="38851"/>
                    <a:pt x="2154622" y="52874"/>
                  </a:cubicBezTo>
                  <a:lnTo>
                    <a:pt x="2154622" y="374569"/>
                  </a:lnTo>
                  <a:cubicBezTo>
                    <a:pt x="2154622" y="403771"/>
                    <a:pt x="2130950" y="427443"/>
                    <a:pt x="2101748" y="427443"/>
                  </a:cubicBezTo>
                  <a:lnTo>
                    <a:pt x="52874" y="427443"/>
                  </a:lnTo>
                  <a:cubicBezTo>
                    <a:pt x="23672" y="427443"/>
                    <a:pt x="0" y="403771"/>
                    <a:pt x="0" y="374569"/>
                  </a:cubicBezTo>
                  <a:lnTo>
                    <a:pt x="0" y="52874"/>
                  </a:lnTo>
                  <a:cubicBezTo>
                    <a:pt x="0" y="23672"/>
                    <a:pt x="23672" y="0"/>
                    <a:pt x="5287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154622" cy="465543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820475" y="5507767"/>
            <a:ext cx="4197937" cy="33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spcBef>
                <a:spcPct val="0"/>
              </a:spcBef>
            </a:pPr>
            <a:r>
              <a:rPr lang="en-US" sz="1948" spc="-8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Planned Analytical Approach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888232" y="5338363"/>
            <a:ext cx="589636" cy="93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1"/>
              </a:lnSpc>
            </a:pPr>
            <a:r>
              <a:rPr lang="en-US" sz="5476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7</a:t>
            </a:r>
          </a:p>
        </p:txBody>
      </p:sp>
      <p:sp>
        <p:nvSpPr>
          <p:cNvPr id="61" name="AutoShape 61"/>
          <p:cNvSpPr/>
          <p:nvPr/>
        </p:nvSpPr>
        <p:spPr>
          <a:xfrm flipV="1">
            <a:off x="10491534" y="5421199"/>
            <a:ext cx="0" cy="632260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2" name="Group 62"/>
          <p:cNvGrpSpPr/>
          <p:nvPr/>
        </p:nvGrpSpPr>
        <p:grpSpPr>
          <a:xfrm>
            <a:off x="9591394" y="6669229"/>
            <a:ext cx="5271195" cy="1045722"/>
            <a:chOff x="0" y="0"/>
            <a:chExt cx="2154622" cy="42744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54622" cy="427443"/>
            </a:xfrm>
            <a:custGeom>
              <a:avLst/>
              <a:gdLst/>
              <a:ahLst/>
              <a:cxnLst/>
              <a:rect l="l" t="t" r="r" b="b"/>
              <a:pathLst>
                <a:path w="2154622" h="427443">
                  <a:moveTo>
                    <a:pt x="52874" y="0"/>
                  </a:moveTo>
                  <a:lnTo>
                    <a:pt x="2101748" y="0"/>
                  </a:lnTo>
                  <a:cubicBezTo>
                    <a:pt x="2115771" y="0"/>
                    <a:pt x="2129220" y="5571"/>
                    <a:pt x="2139136" y="15486"/>
                  </a:cubicBezTo>
                  <a:cubicBezTo>
                    <a:pt x="2149052" y="25402"/>
                    <a:pt x="2154622" y="38851"/>
                    <a:pt x="2154622" y="52874"/>
                  </a:cubicBezTo>
                  <a:lnTo>
                    <a:pt x="2154622" y="374569"/>
                  </a:lnTo>
                  <a:cubicBezTo>
                    <a:pt x="2154622" y="403771"/>
                    <a:pt x="2130950" y="427443"/>
                    <a:pt x="2101748" y="427443"/>
                  </a:cubicBezTo>
                  <a:lnTo>
                    <a:pt x="52874" y="427443"/>
                  </a:lnTo>
                  <a:cubicBezTo>
                    <a:pt x="23672" y="427443"/>
                    <a:pt x="0" y="403771"/>
                    <a:pt x="0" y="374569"/>
                  </a:cubicBezTo>
                  <a:lnTo>
                    <a:pt x="0" y="52874"/>
                  </a:lnTo>
                  <a:cubicBezTo>
                    <a:pt x="0" y="23672"/>
                    <a:pt x="23672" y="0"/>
                    <a:pt x="52874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154622" cy="465543"/>
            </a:xfrm>
            <a:prstGeom prst="rect">
              <a:avLst/>
            </a:prstGeom>
          </p:spPr>
          <p:txBody>
            <a:bodyPr lIns="61394" tIns="61394" rIns="61394" bIns="6139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0889028" y="6968393"/>
            <a:ext cx="4197937" cy="33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8"/>
              </a:lnSpc>
              <a:spcBef>
                <a:spcPct val="0"/>
              </a:spcBef>
            </a:pPr>
            <a:r>
              <a:rPr lang="en-US" sz="1948" spc="-85">
                <a:solidFill>
                  <a:srgbClr val="F3F0ED"/>
                </a:solidFill>
                <a:latin typeface="Helvetica Now"/>
                <a:ea typeface="Helvetica Now"/>
                <a:cs typeface="Helvetica Now"/>
                <a:sym typeface="Helvetica Now"/>
              </a:rPr>
              <a:t>Updated Timeline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888232" y="6781643"/>
            <a:ext cx="589636" cy="93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1"/>
              </a:lnSpc>
            </a:pPr>
            <a:r>
              <a:rPr lang="en-US" sz="5476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8</a:t>
            </a:r>
          </a:p>
        </p:txBody>
      </p:sp>
      <p:sp>
        <p:nvSpPr>
          <p:cNvPr id="67" name="AutoShape 67"/>
          <p:cNvSpPr/>
          <p:nvPr/>
        </p:nvSpPr>
        <p:spPr>
          <a:xfrm flipV="1">
            <a:off x="10491534" y="6864479"/>
            <a:ext cx="0" cy="632260"/>
          </a:xfrm>
          <a:prstGeom prst="line">
            <a:avLst/>
          </a:prstGeom>
          <a:ln w="28575" cap="flat">
            <a:solidFill>
              <a:srgbClr val="F3F0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4228" y="2289915"/>
            <a:ext cx="6420005" cy="6745096"/>
            <a:chOff x="0" y="0"/>
            <a:chExt cx="1690866" cy="1776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866" cy="1776486"/>
            </a:xfrm>
            <a:custGeom>
              <a:avLst/>
              <a:gdLst/>
              <a:ahLst/>
              <a:cxnLst/>
              <a:rect l="l" t="t" r="r" b="b"/>
              <a:pathLst>
                <a:path w="1690866" h="1776486">
                  <a:moveTo>
                    <a:pt x="43413" y="0"/>
                  </a:moveTo>
                  <a:lnTo>
                    <a:pt x="1647453" y="0"/>
                  </a:lnTo>
                  <a:cubicBezTo>
                    <a:pt x="1658967" y="0"/>
                    <a:pt x="1670009" y="4574"/>
                    <a:pt x="1678150" y="12715"/>
                  </a:cubicBezTo>
                  <a:cubicBezTo>
                    <a:pt x="1686292" y="20857"/>
                    <a:pt x="1690866" y="31899"/>
                    <a:pt x="1690866" y="43413"/>
                  </a:cubicBezTo>
                  <a:lnTo>
                    <a:pt x="1690866" y="1733074"/>
                  </a:lnTo>
                  <a:cubicBezTo>
                    <a:pt x="1690866" y="1744588"/>
                    <a:pt x="1686292" y="1755630"/>
                    <a:pt x="1678150" y="1763771"/>
                  </a:cubicBezTo>
                  <a:cubicBezTo>
                    <a:pt x="1670009" y="1771913"/>
                    <a:pt x="1658967" y="1776486"/>
                    <a:pt x="1647453" y="1776486"/>
                  </a:cubicBezTo>
                  <a:lnTo>
                    <a:pt x="43413" y="1776486"/>
                  </a:lnTo>
                  <a:cubicBezTo>
                    <a:pt x="31899" y="1776486"/>
                    <a:pt x="20857" y="1771913"/>
                    <a:pt x="12715" y="1763771"/>
                  </a:cubicBezTo>
                  <a:cubicBezTo>
                    <a:pt x="4574" y="1755630"/>
                    <a:pt x="0" y="1744588"/>
                    <a:pt x="0" y="1733074"/>
                  </a:cubicBezTo>
                  <a:lnTo>
                    <a:pt x="0" y="43413"/>
                  </a:lnTo>
                  <a:cubicBezTo>
                    <a:pt x="0" y="31899"/>
                    <a:pt x="4574" y="20857"/>
                    <a:pt x="12715" y="12715"/>
                  </a:cubicBezTo>
                  <a:cubicBezTo>
                    <a:pt x="20857" y="4574"/>
                    <a:pt x="31899" y="0"/>
                    <a:pt x="43413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90866" cy="1814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34304"/>
            <a:ext cx="7005533" cy="1965751"/>
            <a:chOff x="0" y="0"/>
            <a:chExt cx="9340710" cy="262100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476177"/>
              <a:ext cx="9340710" cy="2144824"/>
              <a:chOff x="0" y="0"/>
              <a:chExt cx="1387845" cy="31867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87845" cy="318678"/>
              </a:xfrm>
              <a:custGeom>
                <a:avLst/>
                <a:gdLst/>
                <a:ahLst/>
                <a:cxnLst/>
                <a:rect l="l" t="t" r="r" b="b"/>
                <a:pathLst>
                  <a:path w="1387845" h="318678">
                    <a:moveTo>
                      <a:pt x="1184645" y="0"/>
                    </a:moveTo>
                    <a:cubicBezTo>
                      <a:pt x="1296869" y="0"/>
                      <a:pt x="1387845" y="71339"/>
                      <a:pt x="1387845" y="159339"/>
                    </a:cubicBezTo>
                    <a:cubicBezTo>
                      <a:pt x="1387845" y="247340"/>
                      <a:pt x="1296869" y="318678"/>
                      <a:pt x="1184645" y="318678"/>
                    </a:cubicBezTo>
                    <a:lnTo>
                      <a:pt x="203200" y="318678"/>
                    </a:lnTo>
                    <a:cubicBezTo>
                      <a:pt x="90976" y="318678"/>
                      <a:pt x="0" y="247340"/>
                      <a:pt x="0" y="159339"/>
                    </a:cubicBezTo>
                    <a:cubicBezTo>
                      <a:pt x="0" y="71339"/>
                      <a:pt x="90976" y="0"/>
                      <a:pt x="203200" y="0"/>
                    </a:cubicBezTo>
                    <a:lnTo>
                      <a:pt x="1184645" y="0"/>
                    </a:lnTo>
                    <a:close/>
                  </a:path>
                </a:pathLst>
              </a:custGeom>
              <a:solidFill>
                <a:srgbClr val="313D6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387845" cy="356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88664" y="1038091"/>
              <a:ext cx="7963382" cy="11842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84"/>
                </a:lnSpc>
                <a:spcBef>
                  <a:spcPct val="0"/>
                </a:spcBef>
              </a:pPr>
              <a:r>
                <a:rPr lang="en-US" sz="4917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Problem Statement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21620" y="719685"/>
              <a:ext cx="232669" cy="232669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495660" y="719685"/>
              <a:ext cx="232669" cy="23266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172142" y="719685"/>
              <a:ext cx="232669" cy="23266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37102" y="0"/>
              <a:ext cx="218520" cy="836019"/>
              <a:chOff x="0" y="0"/>
              <a:chExt cx="106226" cy="406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503955" y="0"/>
              <a:ext cx="218520" cy="836019"/>
              <a:chOff x="0" y="0"/>
              <a:chExt cx="106226" cy="406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176610" y="0"/>
              <a:ext cx="218520" cy="836019"/>
              <a:chOff x="0" y="0"/>
              <a:chExt cx="106226" cy="4064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843463" y="719685"/>
              <a:ext cx="232669" cy="232669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517503" y="719685"/>
              <a:ext cx="232669" cy="232669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193986" y="719685"/>
              <a:ext cx="232669" cy="232669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853785" y="0"/>
              <a:ext cx="218520" cy="836019"/>
              <a:chOff x="0" y="0"/>
              <a:chExt cx="106226" cy="406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520638" y="0"/>
              <a:ext cx="218520" cy="836019"/>
              <a:chOff x="0" y="0"/>
              <a:chExt cx="106226" cy="4064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193293" y="0"/>
              <a:ext cx="218520" cy="836019"/>
              <a:chOff x="0" y="0"/>
              <a:chExt cx="106226" cy="406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4914055" y="719685"/>
              <a:ext cx="232669" cy="232669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588095" y="719685"/>
              <a:ext cx="232669" cy="232669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264577" y="719685"/>
              <a:ext cx="232669" cy="232669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929537" y="0"/>
              <a:ext cx="218520" cy="836019"/>
              <a:chOff x="0" y="0"/>
              <a:chExt cx="106226" cy="4064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5596391" y="0"/>
              <a:ext cx="218520" cy="836019"/>
              <a:chOff x="0" y="0"/>
              <a:chExt cx="106226" cy="4064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269045" y="0"/>
              <a:ext cx="218520" cy="836019"/>
              <a:chOff x="0" y="0"/>
              <a:chExt cx="106226" cy="4064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935899" y="719685"/>
              <a:ext cx="232669" cy="232669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7609939" y="719685"/>
              <a:ext cx="232669" cy="232669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8286421" y="719685"/>
              <a:ext cx="232669" cy="232669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6946220" y="0"/>
              <a:ext cx="218520" cy="836019"/>
              <a:chOff x="0" y="0"/>
              <a:chExt cx="106226" cy="4064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7613074" y="0"/>
              <a:ext cx="218520" cy="836019"/>
              <a:chOff x="0" y="0"/>
              <a:chExt cx="106226" cy="4064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8285728" y="0"/>
              <a:ext cx="218520" cy="836019"/>
              <a:chOff x="0" y="0"/>
              <a:chExt cx="106226" cy="4064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10624193" y="2120780"/>
            <a:ext cx="6420005" cy="6914232"/>
            <a:chOff x="0" y="0"/>
            <a:chExt cx="1690866" cy="182103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690866" cy="1821032"/>
            </a:xfrm>
            <a:custGeom>
              <a:avLst/>
              <a:gdLst/>
              <a:ahLst/>
              <a:cxnLst/>
              <a:rect l="l" t="t" r="r" b="b"/>
              <a:pathLst>
                <a:path w="1690866" h="1821032">
                  <a:moveTo>
                    <a:pt x="43413" y="0"/>
                  </a:moveTo>
                  <a:lnTo>
                    <a:pt x="1647453" y="0"/>
                  </a:lnTo>
                  <a:cubicBezTo>
                    <a:pt x="1658967" y="0"/>
                    <a:pt x="1670009" y="4574"/>
                    <a:pt x="1678150" y="12715"/>
                  </a:cubicBezTo>
                  <a:cubicBezTo>
                    <a:pt x="1686292" y="20857"/>
                    <a:pt x="1690866" y="31899"/>
                    <a:pt x="1690866" y="43413"/>
                  </a:cubicBezTo>
                  <a:lnTo>
                    <a:pt x="1690866" y="1777620"/>
                  </a:lnTo>
                  <a:cubicBezTo>
                    <a:pt x="1690866" y="1789134"/>
                    <a:pt x="1686292" y="1800176"/>
                    <a:pt x="1678150" y="1808317"/>
                  </a:cubicBezTo>
                  <a:cubicBezTo>
                    <a:pt x="1670009" y="1816459"/>
                    <a:pt x="1658967" y="1821032"/>
                    <a:pt x="1647453" y="1821032"/>
                  </a:cubicBezTo>
                  <a:lnTo>
                    <a:pt x="43413" y="1821032"/>
                  </a:lnTo>
                  <a:cubicBezTo>
                    <a:pt x="31899" y="1821032"/>
                    <a:pt x="20857" y="1816459"/>
                    <a:pt x="12715" y="1808317"/>
                  </a:cubicBezTo>
                  <a:cubicBezTo>
                    <a:pt x="4574" y="1800176"/>
                    <a:pt x="0" y="1789134"/>
                    <a:pt x="0" y="1777620"/>
                  </a:cubicBezTo>
                  <a:lnTo>
                    <a:pt x="0" y="43413"/>
                  </a:lnTo>
                  <a:cubicBezTo>
                    <a:pt x="0" y="31899"/>
                    <a:pt x="4574" y="20857"/>
                    <a:pt x="12715" y="12715"/>
                  </a:cubicBezTo>
                  <a:cubicBezTo>
                    <a:pt x="20857" y="4574"/>
                    <a:pt x="31899" y="0"/>
                    <a:pt x="43413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690866" cy="1859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038666" y="665168"/>
            <a:ext cx="7005533" cy="1965751"/>
            <a:chOff x="0" y="0"/>
            <a:chExt cx="9340710" cy="2621001"/>
          </a:xfrm>
        </p:grpSpPr>
        <p:grpSp>
          <p:nvGrpSpPr>
            <p:cNvPr id="86" name="Group 86"/>
            <p:cNvGrpSpPr/>
            <p:nvPr/>
          </p:nvGrpSpPr>
          <p:grpSpPr>
            <a:xfrm>
              <a:off x="0" y="476177"/>
              <a:ext cx="9340710" cy="2144824"/>
              <a:chOff x="0" y="0"/>
              <a:chExt cx="1387845" cy="318678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1387845" cy="318678"/>
              </a:xfrm>
              <a:custGeom>
                <a:avLst/>
                <a:gdLst/>
                <a:ahLst/>
                <a:cxnLst/>
                <a:rect l="l" t="t" r="r" b="b"/>
                <a:pathLst>
                  <a:path w="1387845" h="318678">
                    <a:moveTo>
                      <a:pt x="1184645" y="0"/>
                    </a:moveTo>
                    <a:cubicBezTo>
                      <a:pt x="1296869" y="0"/>
                      <a:pt x="1387845" y="71339"/>
                      <a:pt x="1387845" y="159339"/>
                    </a:cubicBezTo>
                    <a:cubicBezTo>
                      <a:pt x="1387845" y="247340"/>
                      <a:pt x="1296869" y="318678"/>
                      <a:pt x="1184645" y="318678"/>
                    </a:cubicBezTo>
                    <a:lnTo>
                      <a:pt x="203200" y="318678"/>
                    </a:lnTo>
                    <a:cubicBezTo>
                      <a:pt x="90976" y="318678"/>
                      <a:pt x="0" y="247340"/>
                      <a:pt x="0" y="159339"/>
                    </a:cubicBezTo>
                    <a:cubicBezTo>
                      <a:pt x="0" y="71339"/>
                      <a:pt x="90976" y="0"/>
                      <a:pt x="203200" y="0"/>
                    </a:cubicBezTo>
                    <a:lnTo>
                      <a:pt x="1184645" y="0"/>
                    </a:lnTo>
                    <a:close/>
                  </a:path>
                </a:pathLst>
              </a:custGeom>
              <a:solidFill>
                <a:srgbClr val="313D6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38100"/>
                <a:ext cx="1387845" cy="356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9" name="TextBox 89"/>
            <p:cNvSpPr txBox="1"/>
            <p:nvPr/>
          </p:nvSpPr>
          <p:spPr>
            <a:xfrm>
              <a:off x="688664" y="1038091"/>
              <a:ext cx="7963382" cy="11842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84"/>
                </a:lnSpc>
                <a:spcBef>
                  <a:spcPct val="0"/>
                </a:spcBef>
              </a:pPr>
              <a:r>
                <a:rPr lang="en-US" sz="4917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Project Objectives 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821620" y="719685"/>
              <a:ext cx="232669" cy="232669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495660" y="719685"/>
              <a:ext cx="232669" cy="232669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2172142" y="719685"/>
              <a:ext cx="232669" cy="232669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837102" y="0"/>
              <a:ext cx="218520" cy="836019"/>
              <a:chOff x="0" y="0"/>
              <a:chExt cx="106226" cy="4064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1503955" y="0"/>
              <a:ext cx="218520" cy="836019"/>
              <a:chOff x="0" y="0"/>
              <a:chExt cx="106226" cy="4064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2176610" y="0"/>
              <a:ext cx="218520" cy="836019"/>
              <a:chOff x="0" y="0"/>
              <a:chExt cx="106226" cy="4064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2843463" y="719685"/>
              <a:ext cx="232669" cy="232669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3517503" y="719685"/>
              <a:ext cx="232669" cy="232669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4193986" y="719685"/>
              <a:ext cx="232669" cy="232669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2853785" y="0"/>
              <a:ext cx="218520" cy="836019"/>
              <a:chOff x="0" y="0"/>
              <a:chExt cx="106226" cy="4064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3520638" y="0"/>
              <a:ext cx="218520" cy="836019"/>
              <a:chOff x="0" y="0"/>
              <a:chExt cx="106226" cy="4064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4193293" y="0"/>
              <a:ext cx="218520" cy="836019"/>
              <a:chOff x="0" y="0"/>
              <a:chExt cx="106226" cy="4064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125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4914055" y="719685"/>
              <a:ext cx="232669" cy="232669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TextBox 1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5588095" y="719685"/>
              <a:ext cx="232669" cy="232669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6264577" y="719685"/>
              <a:ext cx="232669" cy="232669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4929537" y="0"/>
              <a:ext cx="218520" cy="836019"/>
              <a:chOff x="0" y="0"/>
              <a:chExt cx="106226" cy="4064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5596391" y="0"/>
              <a:ext cx="218520" cy="836019"/>
              <a:chOff x="0" y="0"/>
              <a:chExt cx="106226" cy="4064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6269045" y="0"/>
              <a:ext cx="218520" cy="836019"/>
              <a:chOff x="0" y="0"/>
              <a:chExt cx="106226" cy="4064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TextBox 143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6935899" y="719685"/>
              <a:ext cx="232669" cy="232669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7609939" y="719685"/>
              <a:ext cx="232669" cy="232669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8286421" y="719685"/>
              <a:ext cx="232669" cy="232669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F0E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TextBox 15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946220" y="0"/>
              <a:ext cx="218520" cy="836019"/>
              <a:chOff x="0" y="0"/>
              <a:chExt cx="106226" cy="4064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7613074" y="0"/>
              <a:ext cx="218520" cy="836019"/>
              <a:chOff x="0" y="0"/>
              <a:chExt cx="106226" cy="4064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8285728" y="0"/>
              <a:ext cx="218520" cy="836019"/>
              <a:chOff x="0" y="0"/>
              <a:chExt cx="106226" cy="4064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10622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6226" h="406400">
                    <a:moveTo>
                      <a:pt x="53113" y="0"/>
                    </a:moveTo>
                    <a:lnTo>
                      <a:pt x="53113" y="0"/>
                    </a:lnTo>
                    <a:cubicBezTo>
                      <a:pt x="67199" y="0"/>
                      <a:pt x="80709" y="5596"/>
                      <a:pt x="90669" y="15556"/>
                    </a:cubicBezTo>
                    <a:cubicBezTo>
                      <a:pt x="100630" y="25517"/>
                      <a:pt x="106226" y="39026"/>
                      <a:pt x="106226" y="53113"/>
                    </a:cubicBezTo>
                    <a:lnTo>
                      <a:pt x="106226" y="353287"/>
                    </a:lnTo>
                    <a:cubicBezTo>
                      <a:pt x="106226" y="367374"/>
                      <a:pt x="100630" y="380883"/>
                      <a:pt x="90669" y="390844"/>
                    </a:cubicBezTo>
                    <a:cubicBezTo>
                      <a:pt x="80709" y="400804"/>
                      <a:pt x="67199" y="406400"/>
                      <a:pt x="53113" y="406400"/>
                    </a:cubicBezTo>
                    <a:lnTo>
                      <a:pt x="53113" y="406400"/>
                    </a:lnTo>
                    <a:cubicBezTo>
                      <a:pt x="39026" y="406400"/>
                      <a:pt x="25517" y="400804"/>
                      <a:pt x="15556" y="390844"/>
                    </a:cubicBezTo>
                    <a:cubicBezTo>
                      <a:pt x="5596" y="380883"/>
                      <a:pt x="0" y="367374"/>
                      <a:pt x="0" y="353287"/>
                    </a:cubicBezTo>
                    <a:lnTo>
                      <a:pt x="0" y="53113"/>
                    </a:lnTo>
                    <a:cubicBezTo>
                      <a:pt x="0" y="39026"/>
                      <a:pt x="5596" y="25517"/>
                      <a:pt x="15556" y="15556"/>
                    </a:cubicBezTo>
                    <a:cubicBezTo>
                      <a:pt x="25517" y="5596"/>
                      <a:pt x="39026" y="0"/>
                      <a:pt x="53113" y="0"/>
                    </a:cubicBezTo>
                    <a:close/>
                  </a:path>
                </a:pathLst>
              </a:custGeom>
              <a:solidFill>
                <a:srgbClr val="1C2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0" y="-38100"/>
                <a:ext cx="106226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62" name="Freeform 162"/>
          <p:cNvSpPr/>
          <p:nvPr/>
        </p:nvSpPr>
        <p:spPr>
          <a:xfrm>
            <a:off x="8160348" y="4274172"/>
            <a:ext cx="2337731" cy="2438311"/>
          </a:xfrm>
          <a:custGeom>
            <a:avLst/>
            <a:gdLst/>
            <a:ahLst/>
            <a:cxnLst/>
            <a:rect l="l" t="t" r="r" b="b"/>
            <a:pathLst>
              <a:path w="2337731" h="2438311">
                <a:moveTo>
                  <a:pt x="0" y="0"/>
                </a:moveTo>
                <a:lnTo>
                  <a:pt x="2337730" y="0"/>
                </a:lnTo>
                <a:lnTo>
                  <a:pt x="2337730" y="2438312"/>
                </a:lnTo>
                <a:lnTo>
                  <a:pt x="0" y="243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3" name="TextBox 163"/>
          <p:cNvSpPr txBox="1"/>
          <p:nvPr/>
        </p:nvSpPr>
        <p:spPr>
          <a:xfrm>
            <a:off x="1558167" y="3256812"/>
            <a:ext cx="6383598" cy="481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affects recurring revenue and increases the cost of acquisition.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subscription based model, it is important to proactively identify customers who are at risk of churning.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a comparative analysis to understand the differences in the customer churn behavior.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0621903" y="3256812"/>
            <a:ext cx="6383598" cy="374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machine learning models to predict customer churn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behavioural and financial factors contributing to customer churn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the customers according to the risk level</a:t>
            </a:r>
          </a:p>
        </p:txBody>
      </p:sp>
      <p:grpSp>
        <p:nvGrpSpPr>
          <p:cNvPr id="165" name="Group 165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4947" y="2075709"/>
            <a:ext cx="5193319" cy="1106296"/>
            <a:chOff x="0" y="0"/>
            <a:chExt cx="1367788" cy="2913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7788" cy="291370"/>
            </a:xfrm>
            <a:custGeom>
              <a:avLst/>
              <a:gdLst/>
              <a:ahLst/>
              <a:cxnLst/>
              <a:rect l="l" t="t" r="r" b="b"/>
              <a:pathLst>
                <a:path w="1367788" h="291370">
                  <a:moveTo>
                    <a:pt x="145685" y="0"/>
                  </a:moveTo>
                  <a:lnTo>
                    <a:pt x="1222103" y="0"/>
                  </a:lnTo>
                  <a:cubicBezTo>
                    <a:pt x="1302562" y="0"/>
                    <a:pt x="1367788" y="65225"/>
                    <a:pt x="1367788" y="145685"/>
                  </a:cubicBezTo>
                  <a:lnTo>
                    <a:pt x="1367788" y="145685"/>
                  </a:lnTo>
                  <a:cubicBezTo>
                    <a:pt x="1367788" y="184323"/>
                    <a:pt x="1352439" y="221379"/>
                    <a:pt x="1325118" y="248700"/>
                  </a:cubicBezTo>
                  <a:cubicBezTo>
                    <a:pt x="1297796" y="276021"/>
                    <a:pt x="1260741" y="291370"/>
                    <a:pt x="1222103" y="291370"/>
                  </a:cubicBezTo>
                  <a:lnTo>
                    <a:pt x="145685" y="291370"/>
                  </a:lnTo>
                  <a:cubicBezTo>
                    <a:pt x="107047" y="291370"/>
                    <a:pt x="69991" y="276021"/>
                    <a:pt x="42670" y="248700"/>
                  </a:cubicBezTo>
                  <a:cubicBezTo>
                    <a:pt x="15349" y="221379"/>
                    <a:pt x="0" y="184323"/>
                    <a:pt x="0" y="145685"/>
                  </a:cubicBezTo>
                  <a:lnTo>
                    <a:pt x="0" y="145685"/>
                  </a:lnTo>
                  <a:cubicBezTo>
                    <a:pt x="0" y="107047"/>
                    <a:pt x="15349" y="69991"/>
                    <a:pt x="42670" y="42670"/>
                  </a:cubicBezTo>
                  <a:cubicBezTo>
                    <a:pt x="69991" y="15349"/>
                    <a:pt x="107047" y="0"/>
                    <a:pt x="145685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33350"/>
              <a:ext cx="1367788" cy="424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endParaRPr lang="en-US" sz="3499" dirty="0">
                <a:solidFill>
                  <a:srgbClr val="F3F0ED"/>
                </a:solidFill>
                <a:latin typeface="Clarendon Narrow"/>
                <a:ea typeface="Clarendon Narrow"/>
                <a:cs typeface="Clarendon Narrow"/>
                <a:sym typeface="Clarendon Narrow"/>
              </a:endParaRPr>
            </a:p>
            <a:p>
              <a:pPr algn="ctr">
                <a:lnSpc>
                  <a:spcPts val="4899"/>
                </a:lnSpc>
              </a:pPr>
              <a:r>
                <a:rPr lang="en-US" sz="3499" dirty="0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SaaS Data Set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28696" y="1123950"/>
            <a:ext cx="1063060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Data Set Overview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47340" y="2106811"/>
            <a:ext cx="5193319" cy="1106296"/>
            <a:chOff x="0" y="0"/>
            <a:chExt cx="1367788" cy="2913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7788" cy="291370"/>
            </a:xfrm>
            <a:custGeom>
              <a:avLst/>
              <a:gdLst/>
              <a:ahLst/>
              <a:cxnLst/>
              <a:rect l="l" t="t" r="r" b="b"/>
              <a:pathLst>
                <a:path w="1367788" h="291370">
                  <a:moveTo>
                    <a:pt x="145685" y="0"/>
                  </a:moveTo>
                  <a:lnTo>
                    <a:pt x="1222103" y="0"/>
                  </a:lnTo>
                  <a:cubicBezTo>
                    <a:pt x="1302562" y="0"/>
                    <a:pt x="1367788" y="65225"/>
                    <a:pt x="1367788" y="145685"/>
                  </a:cubicBezTo>
                  <a:lnTo>
                    <a:pt x="1367788" y="145685"/>
                  </a:lnTo>
                  <a:cubicBezTo>
                    <a:pt x="1367788" y="184323"/>
                    <a:pt x="1352439" y="221379"/>
                    <a:pt x="1325118" y="248700"/>
                  </a:cubicBezTo>
                  <a:cubicBezTo>
                    <a:pt x="1297796" y="276021"/>
                    <a:pt x="1260741" y="291370"/>
                    <a:pt x="1222103" y="291370"/>
                  </a:cubicBezTo>
                  <a:lnTo>
                    <a:pt x="145685" y="291370"/>
                  </a:lnTo>
                  <a:cubicBezTo>
                    <a:pt x="107047" y="291370"/>
                    <a:pt x="69991" y="276021"/>
                    <a:pt x="42670" y="248700"/>
                  </a:cubicBezTo>
                  <a:cubicBezTo>
                    <a:pt x="15349" y="221379"/>
                    <a:pt x="0" y="184323"/>
                    <a:pt x="0" y="145685"/>
                  </a:cubicBezTo>
                  <a:lnTo>
                    <a:pt x="0" y="145685"/>
                  </a:lnTo>
                  <a:cubicBezTo>
                    <a:pt x="0" y="107047"/>
                    <a:pt x="15349" y="69991"/>
                    <a:pt x="42670" y="42670"/>
                  </a:cubicBezTo>
                  <a:cubicBezTo>
                    <a:pt x="69991" y="15349"/>
                    <a:pt x="107047" y="0"/>
                    <a:pt x="145685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1367788" cy="424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endParaRPr lang="en-US" sz="3499" dirty="0">
                <a:solidFill>
                  <a:srgbClr val="F3F0ED"/>
                </a:solidFill>
                <a:latin typeface="Clarendon Narrow"/>
                <a:ea typeface="Clarendon Narrow"/>
                <a:cs typeface="Clarendon Narrow"/>
                <a:sym typeface="Clarendon Narrow"/>
              </a:endParaRPr>
            </a:p>
            <a:p>
              <a:pPr algn="ctr">
                <a:lnSpc>
                  <a:spcPts val="4899"/>
                </a:lnSpc>
              </a:pPr>
              <a:r>
                <a:rPr lang="en-US" sz="3499" dirty="0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Telecom Data Set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27906" y="1706212"/>
            <a:ext cx="5193319" cy="1612610"/>
            <a:chOff x="0" y="-133350"/>
            <a:chExt cx="1367788" cy="424720"/>
          </a:xfrm>
        </p:grpSpPr>
        <p:sp>
          <p:nvSpPr>
            <p:cNvPr id="16" name="Freeform 16"/>
            <p:cNvSpPr/>
            <p:nvPr/>
          </p:nvSpPr>
          <p:spPr>
            <a:xfrm>
              <a:off x="0" y="-44294"/>
              <a:ext cx="1367788" cy="291370"/>
            </a:xfrm>
            <a:custGeom>
              <a:avLst/>
              <a:gdLst/>
              <a:ahLst/>
              <a:cxnLst/>
              <a:rect l="l" t="t" r="r" b="b"/>
              <a:pathLst>
                <a:path w="1367788" h="291370">
                  <a:moveTo>
                    <a:pt x="145685" y="0"/>
                  </a:moveTo>
                  <a:lnTo>
                    <a:pt x="1222103" y="0"/>
                  </a:lnTo>
                  <a:cubicBezTo>
                    <a:pt x="1302562" y="0"/>
                    <a:pt x="1367788" y="65225"/>
                    <a:pt x="1367788" y="145685"/>
                  </a:cubicBezTo>
                  <a:lnTo>
                    <a:pt x="1367788" y="145685"/>
                  </a:lnTo>
                  <a:cubicBezTo>
                    <a:pt x="1367788" y="184323"/>
                    <a:pt x="1352439" y="221379"/>
                    <a:pt x="1325118" y="248700"/>
                  </a:cubicBezTo>
                  <a:cubicBezTo>
                    <a:pt x="1297796" y="276021"/>
                    <a:pt x="1260741" y="291370"/>
                    <a:pt x="1222103" y="291370"/>
                  </a:cubicBezTo>
                  <a:lnTo>
                    <a:pt x="145685" y="291370"/>
                  </a:lnTo>
                  <a:cubicBezTo>
                    <a:pt x="107047" y="291370"/>
                    <a:pt x="69991" y="276021"/>
                    <a:pt x="42670" y="248700"/>
                  </a:cubicBezTo>
                  <a:cubicBezTo>
                    <a:pt x="15349" y="221379"/>
                    <a:pt x="0" y="184323"/>
                    <a:pt x="0" y="145685"/>
                  </a:cubicBezTo>
                  <a:lnTo>
                    <a:pt x="0" y="145685"/>
                  </a:lnTo>
                  <a:cubicBezTo>
                    <a:pt x="0" y="107047"/>
                    <a:pt x="15349" y="69991"/>
                    <a:pt x="42670" y="42670"/>
                  </a:cubicBezTo>
                  <a:cubicBezTo>
                    <a:pt x="69991" y="15349"/>
                    <a:pt x="107047" y="0"/>
                    <a:pt x="145685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33350"/>
              <a:ext cx="1367788" cy="424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r>
                <a:rPr lang="en-US" sz="3499" dirty="0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Credit Card Data Set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44947" y="2450852"/>
            <a:ext cx="5193319" cy="7221611"/>
            <a:chOff x="0" y="0"/>
            <a:chExt cx="1367788" cy="19019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67788" cy="1901988"/>
            </a:xfrm>
            <a:custGeom>
              <a:avLst/>
              <a:gdLst/>
              <a:ahLst/>
              <a:cxnLst/>
              <a:rect l="l" t="t" r="r" b="b"/>
              <a:pathLst>
                <a:path w="1367788" h="1901988">
                  <a:moveTo>
                    <a:pt x="53667" y="0"/>
                  </a:moveTo>
                  <a:lnTo>
                    <a:pt x="1314121" y="0"/>
                  </a:lnTo>
                  <a:cubicBezTo>
                    <a:pt x="1328354" y="0"/>
                    <a:pt x="1342005" y="5654"/>
                    <a:pt x="1352069" y="15719"/>
                  </a:cubicBezTo>
                  <a:cubicBezTo>
                    <a:pt x="1362134" y="25783"/>
                    <a:pt x="1367788" y="39434"/>
                    <a:pt x="1367788" y="53667"/>
                  </a:cubicBezTo>
                  <a:lnTo>
                    <a:pt x="1367788" y="1848321"/>
                  </a:lnTo>
                  <a:cubicBezTo>
                    <a:pt x="1367788" y="1862555"/>
                    <a:pt x="1362134" y="1876205"/>
                    <a:pt x="1352069" y="1886270"/>
                  </a:cubicBezTo>
                  <a:cubicBezTo>
                    <a:pt x="1342005" y="1896334"/>
                    <a:pt x="1328354" y="1901988"/>
                    <a:pt x="1314121" y="1901988"/>
                  </a:cubicBezTo>
                  <a:lnTo>
                    <a:pt x="53667" y="1901988"/>
                  </a:lnTo>
                  <a:cubicBezTo>
                    <a:pt x="39434" y="1901988"/>
                    <a:pt x="25783" y="1896334"/>
                    <a:pt x="15719" y="1886270"/>
                  </a:cubicBezTo>
                  <a:cubicBezTo>
                    <a:pt x="5654" y="1876205"/>
                    <a:pt x="0" y="1862555"/>
                    <a:pt x="0" y="1848321"/>
                  </a:cubicBezTo>
                  <a:lnTo>
                    <a:pt x="0" y="53667"/>
                  </a:lnTo>
                  <a:cubicBezTo>
                    <a:pt x="0" y="39434"/>
                    <a:pt x="5654" y="25783"/>
                    <a:pt x="15719" y="15719"/>
                  </a:cubicBezTo>
                  <a:cubicBezTo>
                    <a:pt x="25783" y="5654"/>
                    <a:pt x="39434" y="0"/>
                    <a:pt x="53667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367788" cy="1940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47340" y="2450852"/>
            <a:ext cx="5193319" cy="7221611"/>
            <a:chOff x="0" y="0"/>
            <a:chExt cx="1367788" cy="19019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67788" cy="1901988"/>
            </a:xfrm>
            <a:custGeom>
              <a:avLst/>
              <a:gdLst/>
              <a:ahLst/>
              <a:cxnLst/>
              <a:rect l="l" t="t" r="r" b="b"/>
              <a:pathLst>
                <a:path w="1367788" h="1901988">
                  <a:moveTo>
                    <a:pt x="53667" y="0"/>
                  </a:moveTo>
                  <a:lnTo>
                    <a:pt x="1314121" y="0"/>
                  </a:lnTo>
                  <a:cubicBezTo>
                    <a:pt x="1328354" y="0"/>
                    <a:pt x="1342005" y="5654"/>
                    <a:pt x="1352069" y="15719"/>
                  </a:cubicBezTo>
                  <a:cubicBezTo>
                    <a:pt x="1362134" y="25783"/>
                    <a:pt x="1367788" y="39434"/>
                    <a:pt x="1367788" y="53667"/>
                  </a:cubicBezTo>
                  <a:lnTo>
                    <a:pt x="1367788" y="1848321"/>
                  </a:lnTo>
                  <a:cubicBezTo>
                    <a:pt x="1367788" y="1862555"/>
                    <a:pt x="1362134" y="1876205"/>
                    <a:pt x="1352069" y="1886270"/>
                  </a:cubicBezTo>
                  <a:cubicBezTo>
                    <a:pt x="1342005" y="1896334"/>
                    <a:pt x="1328354" y="1901988"/>
                    <a:pt x="1314121" y="1901988"/>
                  </a:cubicBezTo>
                  <a:lnTo>
                    <a:pt x="53667" y="1901988"/>
                  </a:lnTo>
                  <a:cubicBezTo>
                    <a:pt x="39434" y="1901988"/>
                    <a:pt x="25783" y="1896334"/>
                    <a:pt x="15719" y="1886270"/>
                  </a:cubicBezTo>
                  <a:cubicBezTo>
                    <a:pt x="5654" y="1876205"/>
                    <a:pt x="0" y="1862555"/>
                    <a:pt x="0" y="1848321"/>
                  </a:cubicBezTo>
                  <a:lnTo>
                    <a:pt x="0" y="53667"/>
                  </a:lnTo>
                  <a:cubicBezTo>
                    <a:pt x="0" y="39434"/>
                    <a:pt x="5654" y="25783"/>
                    <a:pt x="15719" y="15719"/>
                  </a:cubicBezTo>
                  <a:cubicBezTo>
                    <a:pt x="25783" y="5654"/>
                    <a:pt x="39434" y="0"/>
                    <a:pt x="53667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67788" cy="1940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49734" y="2450852"/>
            <a:ext cx="5193319" cy="7221611"/>
            <a:chOff x="0" y="0"/>
            <a:chExt cx="1367788" cy="19019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67788" cy="1901988"/>
            </a:xfrm>
            <a:custGeom>
              <a:avLst/>
              <a:gdLst/>
              <a:ahLst/>
              <a:cxnLst/>
              <a:rect l="l" t="t" r="r" b="b"/>
              <a:pathLst>
                <a:path w="1367788" h="1901988">
                  <a:moveTo>
                    <a:pt x="53667" y="0"/>
                  </a:moveTo>
                  <a:lnTo>
                    <a:pt x="1314121" y="0"/>
                  </a:lnTo>
                  <a:cubicBezTo>
                    <a:pt x="1328354" y="0"/>
                    <a:pt x="1342005" y="5654"/>
                    <a:pt x="1352069" y="15719"/>
                  </a:cubicBezTo>
                  <a:cubicBezTo>
                    <a:pt x="1362134" y="25783"/>
                    <a:pt x="1367788" y="39434"/>
                    <a:pt x="1367788" y="53667"/>
                  </a:cubicBezTo>
                  <a:lnTo>
                    <a:pt x="1367788" y="1848321"/>
                  </a:lnTo>
                  <a:cubicBezTo>
                    <a:pt x="1367788" y="1862555"/>
                    <a:pt x="1362134" y="1876205"/>
                    <a:pt x="1352069" y="1886270"/>
                  </a:cubicBezTo>
                  <a:cubicBezTo>
                    <a:pt x="1342005" y="1896334"/>
                    <a:pt x="1328354" y="1901988"/>
                    <a:pt x="1314121" y="1901988"/>
                  </a:cubicBezTo>
                  <a:lnTo>
                    <a:pt x="53667" y="1901988"/>
                  </a:lnTo>
                  <a:cubicBezTo>
                    <a:pt x="39434" y="1901988"/>
                    <a:pt x="25783" y="1896334"/>
                    <a:pt x="15719" y="1886270"/>
                  </a:cubicBezTo>
                  <a:cubicBezTo>
                    <a:pt x="5654" y="1876205"/>
                    <a:pt x="0" y="1862555"/>
                    <a:pt x="0" y="1848321"/>
                  </a:cubicBezTo>
                  <a:lnTo>
                    <a:pt x="0" y="53667"/>
                  </a:lnTo>
                  <a:cubicBezTo>
                    <a:pt x="0" y="39434"/>
                    <a:pt x="5654" y="25783"/>
                    <a:pt x="15719" y="15719"/>
                  </a:cubicBezTo>
                  <a:cubicBezTo>
                    <a:pt x="25783" y="5654"/>
                    <a:pt x="39434" y="0"/>
                    <a:pt x="53667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67788" cy="1940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064510" y="3590966"/>
            <a:ext cx="5009566" cy="5876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includes credit limit, balance, and payment behavior data.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measures customer spending habits and repayment behavior.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indicates risk by observing trends in utilization or inactivity.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refers to closure or non use of accounts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58914" y="3590966"/>
            <a:ext cx="5009566" cy="641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includes service plans, internet type, and add-on services.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tracks customers' tenure and service cost variations.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measures satisfaction levels based on billing methods and contract length. 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refers to service disconnection. 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3946" y="3590966"/>
            <a:ext cx="5284320" cy="5876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includes data on subscription and usage metrics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measures customer engagement based on login frequency or feature adoption.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includes support interaction or issue resolution measures.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refers to cancellations or downgrades of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subscriptions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28696" y="1123950"/>
            <a:ext cx="106306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Data Preparation Approach </a:t>
            </a:r>
          </a:p>
          <a:p>
            <a:pPr algn="ctr">
              <a:lnSpc>
                <a:spcPts val="5879"/>
              </a:lnSpc>
            </a:pPr>
            <a:endParaRPr lang="en-US" sz="4899">
              <a:solidFill>
                <a:srgbClr val="F6F2EA"/>
              </a:solidFill>
              <a:latin typeface="Clarendon Narrow"/>
              <a:ea typeface="Clarendon Narrow"/>
              <a:cs typeface="Clarendon Narrow"/>
              <a:sym typeface="Clarendon Narrow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579806" y="3573871"/>
            <a:ext cx="4679494" cy="4357779"/>
          </a:xfrm>
          <a:custGeom>
            <a:avLst/>
            <a:gdLst/>
            <a:ahLst/>
            <a:cxnLst/>
            <a:rect l="l" t="t" r="r" b="b"/>
            <a:pathLst>
              <a:path w="4679494" h="4357779">
                <a:moveTo>
                  <a:pt x="0" y="0"/>
                </a:moveTo>
                <a:lnTo>
                  <a:pt x="4679494" y="0"/>
                </a:lnTo>
                <a:lnTo>
                  <a:pt x="4679494" y="4357779"/>
                </a:lnTo>
                <a:lnTo>
                  <a:pt x="0" y="4357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3585390" y="2973740"/>
            <a:ext cx="1326766" cy="0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4809587" y="8798619"/>
            <a:ext cx="1326766" cy="0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2322751" y="6857211"/>
            <a:ext cx="726444" cy="0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14912156" y="2984461"/>
            <a:ext cx="0" cy="1009004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12332276" y="5848207"/>
            <a:ext cx="0" cy="1009004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605832" y="5848207"/>
            <a:ext cx="726444" cy="0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760188" y="8560300"/>
            <a:ext cx="291075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C2954"/>
                </a:solidFill>
                <a:latin typeface="Helios Bold"/>
                <a:ea typeface="Helios Bold"/>
                <a:cs typeface="Helios Bold"/>
                <a:sym typeface="Helios Bold"/>
              </a:rPr>
              <a:t>SaaS Datset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89661" y="2590888"/>
            <a:ext cx="33410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C2954"/>
                </a:solidFill>
                <a:latin typeface="Helios Bold"/>
                <a:ea typeface="Helios Bold"/>
                <a:cs typeface="Helios Bold"/>
                <a:sym typeface="Helios Bold"/>
              </a:rPr>
              <a:t>Credit Card Dataset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55375" y="5321792"/>
            <a:ext cx="3812332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1C2954"/>
                </a:solidFill>
                <a:latin typeface="Helios Bold"/>
                <a:ea typeface="Helios Bold"/>
                <a:cs typeface="Helios Bold"/>
                <a:sym typeface="Helios Bold"/>
              </a:rPr>
              <a:t>Telecom</a:t>
            </a:r>
          </a:p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C2954"/>
                </a:solidFill>
                <a:latin typeface="Helios Bold"/>
                <a:ea typeface="Helios Bold"/>
                <a:cs typeface="Helios Bold"/>
                <a:sym typeface="Helios Bold"/>
              </a:rPr>
              <a:t> Dataset </a:t>
            </a:r>
          </a:p>
        </p:txBody>
      </p:sp>
      <p:sp>
        <p:nvSpPr>
          <p:cNvPr id="17" name="AutoShape 17"/>
          <p:cNvSpPr/>
          <p:nvPr/>
        </p:nvSpPr>
        <p:spPr>
          <a:xfrm flipH="1" flipV="1">
            <a:off x="16128955" y="7427148"/>
            <a:ext cx="0" cy="1371472"/>
          </a:xfrm>
          <a:prstGeom prst="line">
            <a:avLst/>
          </a:prstGeom>
          <a:ln w="19050" cap="flat">
            <a:solidFill>
              <a:srgbClr val="292A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579806" y="4152696"/>
            <a:ext cx="291075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10,000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56777" y="4643551"/>
            <a:ext cx="291075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Customer </a:t>
            </a:r>
          </a:p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Record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24427" y="6144408"/>
            <a:ext cx="291075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7000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22751" y="6635263"/>
            <a:ext cx="291075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Customer </a:t>
            </a:r>
          </a:p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Record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9587" y="6423173"/>
            <a:ext cx="2910758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Multi table </a:t>
            </a:r>
          </a:p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Structured </a:t>
            </a:r>
          </a:p>
          <a:p>
            <a:pPr algn="ctr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67999" y="3117303"/>
            <a:ext cx="8299053" cy="5509672"/>
            <a:chOff x="0" y="0"/>
            <a:chExt cx="2185759" cy="14511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5759" cy="1451107"/>
            </a:xfrm>
            <a:custGeom>
              <a:avLst/>
              <a:gdLst/>
              <a:ahLst/>
              <a:cxnLst/>
              <a:rect l="l" t="t" r="r" b="b"/>
              <a:pathLst>
                <a:path w="2185759" h="1451107">
                  <a:moveTo>
                    <a:pt x="33583" y="0"/>
                  </a:moveTo>
                  <a:lnTo>
                    <a:pt x="2152176" y="0"/>
                  </a:lnTo>
                  <a:cubicBezTo>
                    <a:pt x="2161082" y="0"/>
                    <a:pt x="2169625" y="3538"/>
                    <a:pt x="2175923" y="9836"/>
                  </a:cubicBezTo>
                  <a:cubicBezTo>
                    <a:pt x="2182221" y="16134"/>
                    <a:pt x="2185759" y="24676"/>
                    <a:pt x="2185759" y="33583"/>
                  </a:cubicBezTo>
                  <a:lnTo>
                    <a:pt x="2185759" y="1417524"/>
                  </a:lnTo>
                  <a:cubicBezTo>
                    <a:pt x="2185759" y="1426430"/>
                    <a:pt x="2182221" y="1434972"/>
                    <a:pt x="2175923" y="1441271"/>
                  </a:cubicBezTo>
                  <a:cubicBezTo>
                    <a:pt x="2169625" y="1447569"/>
                    <a:pt x="2161082" y="1451107"/>
                    <a:pt x="2152176" y="1451107"/>
                  </a:cubicBezTo>
                  <a:lnTo>
                    <a:pt x="33583" y="1451107"/>
                  </a:lnTo>
                  <a:cubicBezTo>
                    <a:pt x="15036" y="1451107"/>
                    <a:pt x="0" y="1436071"/>
                    <a:pt x="0" y="1417524"/>
                  </a:cubicBezTo>
                  <a:lnTo>
                    <a:pt x="0" y="33583"/>
                  </a:lnTo>
                  <a:cubicBezTo>
                    <a:pt x="0" y="15036"/>
                    <a:pt x="15036" y="0"/>
                    <a:pt x="33583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185759" cy="1489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43202" y="3424214"/>
            <a:ext cx="7813142" cy="10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identifier variables and transformed the churn variable into a binary variable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202" y="4787413"/>
            <a:ext cx="7813142" cy="21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Handled missing values by imputing the median value and performing a logical operation 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10955" y="6771486"/>
            <a:ext cx="7813142" cy="10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the SaaS multi-table data into the analytical dataset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2418178"/>
            <a:ext cx="5036225" cy="886274"/>
            <a:chOff x="0" y="0"/>
            <a:chExt cx="1655704" cy="2913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55704" cy="291370"/>
            </a:xfrm>
            <a:custGeom>
              <a:avLst/>
              <a:gdLst/>
              <a:ahLst/>
              <a:cxnLst/>
              <a:rect l="l" t="t" r="r" b="b"/>
              <a:pathLst>
                <a:path w="1655704" h="291370">
                  <a:moveTo>
                    <a:pt x="145685" y="0"/>
                  </a:moveTo>
                  <a:lnTo>
                    <a:pt x="1510019" y="0"/>
                  </a:lnTo>
                  <a:cubicBezTo>
                    <a:pt x="1548657" y="0"/>
                    <a:pt x="1585712" y="15349"/>
                    <a:pt x="1613034" y="42670"/>
                  </a:cubicBezTo>
                  <a:cubicBezTo>
                    <a:pt x="1640355" y="69991"/>
                    <a:pt x="1655704" y="107047"/>
                    <a:pt x="1655704" y="145685"/>
                  </a:cubicBezTo>
                  <a:lnTo>
                    <a:pt x="1655704" y="145685"/>
                  </a:lnTo>
                  <a:cubicBezTo>
                    <a:pt x="1655704" y="226145"/>
                    <a:pt x="1590478" y="291370"/>
                    <a:pt x="1510019" y="291370"/>
                  </a:cubicBezTo>
                  <a:lnTo>
                    <a:pt x="145685" y="291370"/>
                  </a:lnTo>
                  <a:cubicBezTo>
                    <a:pt x="107047" y="291370"/>
                    <a:pt x="69991" y="276021"/>
                    <a:pt x="42670" y="248700"/>
                  </a:cubicBezTo>
                  <a:cubicBezTo>
                    <a:pt x="15349" y="221379"/>
                    <a:pt x="0" y="184323"/>
                    <a:pt x="0" y="145685"/>
                  </a:cubicBezTo>
                  <a:lnTo>
                    <a:pt x="0" y="145685"/>
                  </a:lnTo>
                  <a:cubicBezTo>
                    <a:pt x="0" y="107047"/>
                    <a:pt x="15349" y="69991"/>
                    <a:pt x="42670" y="42670"/>
                  </a:cubicBezTo>
                  <a:cubicBezTo>
                    <a:pt x="69991" y="15349"/>
                    <a:pt x="107047" y="0"/>
                    <a:pt x="145685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1655704" cy="415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Credit Card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11826" y="2418178"/>
            <a:ext cx="5036225" cy="886274"/>
            <a:chOff x="0" y="0"/>
            <a:chExt cx="1655704" cy="2913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5704" cy="291370"/>
            </a:xfrm>
            <a:custGeom>
              <a:avLst/>
              <a:gdLst/>
              <a:ahLst/>
              <a:cxnLst/>
              <a:rect l="l" t="t" r="r" b="b"/>
              <a:pathLst>
                <a:path w="1655704" h="291370">
                  <a:moveTo>
                    <a:pt x="145685" y="0"/>
                  </a:moveTo>
                  <a:lnTo>
                    <a:pt x="1510019" y="0"/>
                  </a:lnTo>
                  <a:cubicBezTo>
                    <a:pt x="1548657" y="0"/>
                    <a:pt x="1585712" y="15349"/>
                    <a:pt x="1613034" y="42670"/>
                  </a:cubicBezTo>
                  <a:cubicBezTo>
                    <a:pt x="1640355" y="69991"/>
                    <a:pt x="1655704" y="107047"/>
                    <a:pt x="1655704" y="145685"/>
                  </a:cubicBezTo>
                  <a:lnTo>
                    <a:pt x="1655704" y="145685"/>
                  </a:lnTo>
                  <a:cubicBezTo>
                    <a:pt x="1655704" y="226145"/>
                    <a:pt x="1590478" y="291370"/>
                    <a:pt x="1510019" y="291370"/>
                  </a:cubicBezTo>
                  <a:lnTo>
                    <a:pt x="145685" y="291370"/>
                  </a:lnTo>
                  <a:cubicBezTo>
                    <a:pt x="107047" y="291370"/>
                    <a:pt x="69991" y="276021"/>
                    <a:pt x="42670" y="248700"/>
                  </a:cubicBezTo>
                  <a:cubicBezTo>
                    <a:pt x="15349" y="221379"/>
                    <a:pt x="0" y="184323"/>
                    <a:pt x="0" y="145685"/>
                  </a:cubicBezTo>
                  <a:lnTo>
                    <a:pt x="0" y="145685"/>
                  </a:lnTo>
                  <a:cubicBezTo>
                    <a:pt x="0" y="107047"/>
                    <a:pt x="15349" y="69991"/>
                    <a:pt x="42670" y="42670"/>
                  </a:cubicBezTo>
                  <a:cubicBezTo>
                    <a:pt x="69991" y="15349"/>
                    <a:pt x="107047" y="0"/>
                    <a:pt x="145685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1655704" cy="415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Telecom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6640326" y="2418178"/>
            <a:ext cx="0" cy="6840122"/>
          </a:xfrm>
          <a:prstGeom prst="line">
            <a:avLst/>
          </a:prstGeom>
          <a:ln w="38100" cap="flat">
            <a:solidFill>
              <a:srgbClr val="1C29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66456" y="2418178"/>
            <a:ext cx="5036225" cy="886274"/>
            <a:chOff x="0" y="0"/>
            <a:chExt cx="1655704" cy="2913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55704" cy="291370"/>
            </a:xfrm>
            <a:custGeom>
              <a:avLst/>
              <a:gdLst/>
              <a:ahLst/>
              <a:cxnLst/>
              <a:rect l="l" t="t" r="r" b="b"/>
              <a:pathLst>
                <a:path w="1655704" h="291370">
                  <a:moveTo>
                    <a:pt x="145685" y="0"/>
                  </a:moveTo>
                  <a:lnTo>
                    <a:pt x="1510019" y="0"/>
                  </a:lnTo>
                  <a:cubicBezTo>
                    <a:pt x="1548657" y="0"/>
                    <a:pt x="1585712" y="15349"/>
                    <a:pt x="1613034" y="42670"/>
                  </a:cubicBezTo>
                  <a:cubicBezTo>
                    <a:pt x="1640355" y="69991"/>
                    <a:pt x="1655704" y="107047"/>
                    <a:pt x="1655704" y="145685"/>
                  </a:cubicBezTo>
                  <a:lnTo>
                    <a:pt x="1655704" y="145685"/>
                  </a:lnTo>
                  <a:cubicBezTo>
                    <a:pt x="1655704" y="226145"/>
                    <a:pt x="1590478" y="291370"/>
                    <a:pt x="1510019" y="291370"/>
                  </a:cubicBezTo>
                  <a:lnTo>
                    <a:pt x="145685" y="291370"/>
                  </a:lnTo>
                  <a:cubicBezTo>
                    <a:pt x="107047" y="291370"/>
                    <a:pt x="69991" y="276021"/>
                    <a:pt x="42670" y="248700"/>
                  </a:cubicBezTo>
                  <a:cubicBezTo>
                    <a:pt x="15349" y="221379"/>
                    <a:pt x="0" y="184323"/>
                    <a:pt x="0" y="145685"/>
                  </a:cubicBezTo>
                  <a:lnTo>
                    <a:pt x="0" y="145685"/>
                  </a:lnTo>
                  <a:cubicBezTo>
                    <a:pt x="0" y="107047"/>
                    <a:pt x="15349" y="69991"/>
                    <a:pt x="42670" y="42670"/>
                  </a:cubicBezTo>
                  <a:cubicBezTo>
                    <a:pt x="69991" y="15349"/>
                    <a:pt x="107047" y="0"/>
                    <a:pt x="145685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1655704" cy="415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3F0ED"/>
                  </a:solidFill>
                  <a:latin typeface="Clarendon Narrow"/>
                  <a:ea typeface="Clarendon Narrow"/>
                  <a:cs typeface="Clarendon Narrow"/>
                  <a:sym typeface="Clarendon Narrow"/>
                </a:rPr>
                <a:t>SaaS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 flipH="1" flipV="1">
            <a:off x="12607253" y="2660975"/>
            <a:ext cx="0" cy="6597325"/>
          </a:xfrm>
          <a:prstGeom prst="line">
            <a:avLst/>
          </a:prstGeom>
          <a:ln w="38100" cap="flat">
            <a:solidFill>
              <a:srgbClr val="1C29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882483" y="3875934"/>
            <a:ext cx="2272982" cy="1839049"/>
          </a:xfrm>
          <a:custGeom>
            <a:avLst/>
            <a:gdLst/>
            <a:ahLst/>
            <a:cxnLst/>
            <a:rect l="l" t="t" r="r" b="b"/>
            <a:pathLst>
              <a:path w="2272982" h="1839049">
                <a:moveTo>
                  <a:pt x="0" y="0"/>
                </a:moveTo>
                <a:lnTo>
                  <a:pt x="2272982" y="0"/>
                </a:lnTo>
                <a:lnTo>
                  <a:pt x="2272982" y="1839049"/>
                </a:lnTo>
                <a:lnTo>
                  <a:pt x="0" y="1839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600572" y="3457892"/>
            <a:ext cx="2258733" cy="2371374"/>
          </a:xfrm>
          <a:custGeom>
            <a:avLst/>
            <a:gdLst/>
            <a:ahLst/>
            <a:cxnLst/>
            <a:rect l="l" t="t" r="r" b="b"/>
            <a:pathLst>
              <a:path w="2258733" h="2371374">
                <a:moveTo>
                  <a:pt x="0" y="0"/>
                </a:moveTo>
                <a:lnTo>
                  <a:pt x="2258733" y="0"/>
                </a:lnTo>
                <a:lnTo>
                  <a:pt x="2258733" y="2371373"/>
                </a:lnTo>
                <a:lnTo>
                  <a:pt x="0" y="2371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459304" y="3657583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828696" y="1123950"/>
            <a:ext cx="1063060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Exploratory Data Analysis Insights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6727" y="5934040"/>
            <a:ext cx="6383598" cy="267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transactional activity and shorter relationship length contributed to churn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credit utilization is a risk factor, contributing to churn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40326" y="5934040"/>
            <a:ext cx="5798746" cy="320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Customers with a month-to-month contract were likely to churn.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monthly bills, shorter relationship, contributed to service termination.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07253" y="5934040"/>
            <a:ext cx="5680747" cy="320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Customers with lower feature usage intensity were more likely to churn.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support interactions were a challenge, contributing to churn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3173344" y="2579874"/>
            <a:ext cx="1177134" cy="1827874"/>
            <a:chOff x="0" y="0"/>
            <a:chExt cx="660400" cy="10254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C2954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3173344" y="5336082"/>
            <a:ext cx="1177134" cy="1827874"/>
            <a:chOff x="0" y="0"/>
            <a:chExt cx="660400" cy="10254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313D66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3173344" y="3957978"/>
            <a:ext cx="1177134" cy="1827874"/>
            <a:chOff x="0" y="0"/>
            <a:chExt cx="660400" cy="10254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308FBE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3173344" y="6714187"/>
            <a:ext cx="1177134" cy="1827874"/>
            <a:chOff x="0" y="0"/>
            <a:chExt cx="660400" cy="10254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308FBE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62941" y="3107723"/>
            <a:ext cx="2735754" cy="772177"/>
            <a:chOff x="0" y="0"/>
            <a:chExt cx="426875" cy="1204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1C29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962941" y="5863931"/>
            <a:ext cx="2735754" cy="772177"/>
            <a:chOff x="0" y="0"/>
            <a:chExt cx="426875" cy="12048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1C29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962941" y="4485827"/>
            <a:ext cx="2735754" cy="772177"/>
            <a:chOff x="0" y="0"/>
            <a:chExt cx="426875" cy="12048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962941" y="7242035"/>
            <a:ext cx="2735754" cy="772177"/>
            <a:chOff x="0" y="0"/>
            <a:chExt cx="426875" cy="12048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3179805" y="3070710"/>
            <a:ext cx="728765" cy="707813"/>
          </a:xfrm>
          <a:custGeom>
            <a:avLst/>
            <a:gdLst/>
            <a:ahLst/>
            <a:cxnLst/>
            <a:rect l="l" t="t" r="r" b="b"/>
            <a:pathLst>
              <a:path w="728765" h="707813">
                <a:moveTo>
                  <a:pt x="0" y="0"/>
                </a:moveTo>
                <a:lnTo>
                  <a:pt x="728765" y="0"/>
                </a:lnTo>
                <a:lnTo>
                  <a:pt x="728765" y="707814"/>
                </a:lnTo>
                <a:lnTo>
                  <a:pt x="0" y="707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236098" y="4430301"/>
            <a:ext cx="757169" cy="801237"/>
          </a:xfrm>
          <a:custGeom>
            <a:avLst/>
            <a:gdLst/>
            <a:ahLst/>
            <a:cxnLst/>
            <a:rect l="l" t="t" r="r" b="b"/>
            <a:pathLst>
              <a:path w="757169" h="801237">
                <a:moveTo>
                  <a:pt x="0" y="0"/>
                </a:moveTo>
                <a:lnTo>
                  <a:pt x="757169" y="0"/>
                </a:lnTo>
                <a:lnTo>
                  <a:pt x="757169" y="801237"/>
                </a:lnTo>
                <a:lnTo>
                  <a:pt x="0" y="801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3173382" y="5908157"/>
            <a:ext cx="689253" cy="628082"/>
          </a:xfrm>
          <a:custGeom>
            <a:avLst/>
            <a:gdLst/>
            <a:ahLst/>
            <a:cxnLst/>
            <a:rect l="l" t="t" r="r" b="b"/>
            <a:pathLst>
              <a:path w="689253" h="628082">
                <a:moveTo>
                  <a:pt x="0" y="0"/>
                </a:moveTo>
                <a:lnTo>
                  <a:pt x="689253" y="0"/>
                </a:lnTo>
                <a:lnTo>
                  <a:pt x="689253" y="628082"/>
                </a:lnTo>
                <a:lnTo>
                  <a:pt x="0" y="628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 rot="-5400000">
            <a:off x="13173344" y="8148495"/>
            <a:ext cx="1177134" cy="1827874"/>
            <a:chOff x="0" y="0"/>
            <a:chExt cx="660400" cy="102548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0400" cy="1025481"/>
            </a:xfrm>
            <a:custGeom>
              <a:avLst/>
              <a:gdLst/>
              <a:ahLst/>
              <a:cxnLst/>
              <a:rect l="l" t="t" r="r" b="b"/>
              <a:pathLst>
                <a:path w="660400" h="102548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3226"/>
                  </a:cubicBezTo>
                  <a:lnTo>
                    <a:pt x="660400" y="1025481"/>
                  </a:lnTo>
                  <a:lnTo>
                    <a:pt x="0" y="1025481"/>
                  </a:lnTo>
                  <a:lnTo>
                    <a:pt x="0" y="33374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313D66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79375"/>
              <a:ext cx="660400" cy="94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962941" y="8676344"/>
            <a:ext cx="2735754" cy="772177"/>
            <a:chOff x="0" y="0"/>
            <a:chExt cx="426875" cy="12048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6875" cy="120487"/>
            </a:xfrm>
            <a:custGeom>
              <a:avLst/>
              <a:gdLst/>
              <a:ahLst/>
              <a:cxnLst/>
              <a:rect l="l" t="t" r="r" b="b"/>
              <a:pathLst>
                <a:path w="426875" h="120487">
                  <a:moveTo>
                    <a:pt x="60244" y="0"/>
                  </a:moveTo>
                  <a:lnTo>
                    <a:pt x="366631" y="0"/>
                  </a:lnTo>
                  <a:cubicBezTo>
                    <a:pt x="399903" y="0"/>
                    <a:pt x="426875" y="26972"/>
                    <a:pt x="426875" y="60244"/>
                  </a:cubicBezTo>
                  <a:lnTo>
                    <a:pt x="426875" y="60244"/>
                  </a:lnTo>
                  <a:cubicBezTo>
                    <a:pt x="426875" y="93515"/>
                    <a:pt x="399903" y="120487"/>
                    <a:pt x="366631" y="120487"/>
                  </a:cubicBezTo>
                  <a:lnTo>
                    <a:pt x="60244" y="120487"/>
                  </a:lnTo>
                  <a:cubicBezTo>
                    <a:pt x="26972" y="120487"/>
                    <a:pt x="0" y="93515"/>
                    <a:pt x="0" y="60244"/>
                  </a:cubicBezTo>
                  <a:lnTo>
                    <a:pt x="0" y="60244"/>
                  </a:lnTo>
                  <a:cubicBezTo>
                    <a:pt x="0" y="26972"/>
                    <a:pt x="26972" y="0"/>
                    <a:pt x="60244" y="0"/>
                  </a:cubicBezTo>
                  <a:close/>
                </a:path>
              </a:pathLst>
            </a:custGeom>
            <a:solidFill>
              <a:srgbClr val="1C29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426875" cy="168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3113988" y="7191011"/>
            <a:ext cx="808040" cy="655523"/>
          </a:xfrm>
          <a:custGeom>
            <a:avLst/>
            <a:gdLst/>
            <a:ahLst/>
            <a:cxnLst/>
            <a:rect l="l" t="t" r="r" b="b"/>
            <a:pathLst>
              <a:path w="808040" h="655523">
                <a:moveTo>
                  <a:pt x="0" y="0"/>
                </a:moveTo>
                <a:lnTo>
                  <a:pt x="808041" y="0"/>
                </a:lnTo>
                <a:lnTo>
                  <a:pt x="808041" y="655523"/>
                </a:lnTo>
                <a:lnTo>
                  <a:pt x="0" y="655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3194403" y="8683416"/>
            <a:ext cx="768538" cy="768538"/>
          </a:xfrm>
          <a:custGeom>
            <a:avLst/>
            <a:gdLst/>
            <a:ahLst/>
            <a:cxnLst/>
            <a:rect l="l" t="t" r="r" b="b"/>
            <a:pathLst>
              <a:path w="768538" h="768538">
                <a:moveTo>
                  <a:pt x="0" y="0"/>
                </a:moveTo>
                <a:lnTo>
                  <a:pt x="768538" y="0"/>
                </a:lnTo>
                <a:lnTo>
                  <a:pt x="768538" y="768537"/>
                </a:lnTo>
                <a:lnTo>
                  <a:pt x="0" y="7685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828696" y="1123950"/>
            <a:ext cx="106306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Modeling Methodology</a:t>
            </a:r>
          </a:p>
          <a:p>
            <a:pPr algn="ctr">
              <a:lnSpc>
                <a:spcPts val="5879"/>
              </a:lnSpc>
            </a:pPr>
            <a:endParaRPr lang="en-US" sz="4899">
              <a:solidFill>
                <a:srgbClr val="F6F2EA"/>
              </a:solidFill>
              <a:latin typeface="Clarendon Narrow"/>
              <a:ea typeface="Clarendon Narrow"/>
              <a:cs typeface="Clarendon Narrow"/>
              <a:sym typeface="Clarendon Narrow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4163551" y="3280181"/>
            <a:ext cx="2334282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24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Accuracy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317504" y="5979977"/>
            <a:ext cx="202662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Recall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178839" y="4658307"/>
            <a:ext cx="2334282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120"/>
              </a:lnSpc>
            </a:pPr>
            <a:r>
              <a:rPr lang="en-US" sz="24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Precision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178839" y="7457825"/>
            <a:ext cx="202662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F1 Score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317379" y="8816766"/>
            <a:ext cx="202662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ROC AUC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66907" y="2229526"/>
            <a:ext cx="10737687" cy="2913974"/>
            <a:chOff x="0" y="0"/>
            <a:chExt cx="2828033" cy="76746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828033" cy="767466"/>
            </a:xfrm>
            <a:custGeom>
              <a:avLst/>
              <a:gdLst/>
              <a:ahLst/>
              <a:cxnLst/>
              <a:rect l="l" t="t" r="r" b="b"/>
              <a:pathLst>
                <a:path w="2828033" h="767466">
                  <a:moveTo>
                    <a:pt x="25956" y="0"/>
                  </a:moveTo>
                  <a:lnTo>
                    <a:pt x="2802077" y="0"/>
                  </a:lnTo>
                  <a:cubicBezTo>
                    <a:pt x="2808961" y="0"/>
                    <a:pt x="2815563" y="2735"/>
                    <a:pt x="2820430" y="7602"/>
                  </a:cubicBezTo>
                  <a:cubicBezTo>
                    <a:pt x="2825298" y="12470"/>
                    <a:pt x="2828033" y="19072"/>
                    <a:pt x="2828033" y="25956"/>
                  </a:cubicBezTo>
                  <a:lnTo>
                    <a:pt x="2828033" y="741510"/>
                  </a:lnTo>
                  <a:cubicBezTo>
                    <a:pt x="2828033" y="755845"/>
                    <a:pt x="2816412" y="767466"/>
                    <a:pt x="2802077" y="767466"/>
                  </a:cubicBezTo>
                  <a:lnTo>
                    <a:pt x="25956" y="767466"/>
                  </a:lnTo>
                  <a:cubicBezTo>
                    <a:pt x="11621" y="767466"/>
                    <a:pt x="0" y="755845"/>
                    <a:pt x="0" y="741510"/>
                  </a:cubicBezTo>
                  <a:lnTo>
                    <a:pt x="0" y="25956"/>
                  </a:lnTo>
                  <a:cubicBezTo>
                    <a:pt x="0" y="11621"/>
                    <a:pt x="11621" y="0"/>
                    <a:pt x="25956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828033" cy="805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366907" y="2270727"/>
            <a:ext cx="10115408" cy="267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Logistic Regression as a interpretable baseline model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Utilized Decision Tree to understand churn decision rules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Utilized Random Forest to optimize predictive accuracy through ensemble learning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66907" y="5238456"/>
            <a:ext cx="10115408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1C29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Preliminary Model Results: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366907" y="6031636"/>
            <a:ext cx="10737687" cy="3416885"/>
            <a:chOff x="0" y="0"/>
            <a:chExt cx="2828033" cy="8999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828033" cy="899920"/>
            </a:xfrm>
            <a:custGeom>
              <a:avLst/>
              <a:gdLst/>
              <a:ahLst/>
              <a:cxnLst/>
              <a:rect l="l" t="t" r="r" b="b"/>
              <a:pathLst>
                <a:path w="2828033" h="899920">
                  <a:moveTo>
                    <a:pt x="25956" y="0"/>
                  </a:moveTo>
                  <a:lnTo>
                    <a:pt x="2802077" y="0"/>
                  </a:lnTo>
                  <a:cubicBezTo>
                    <a:pt x="2808961" y="0"/>
                    <a:pt x="2815563" y="2735"/>
                    <a:pt x="2820430" y="7602"/>
                  </a:cubicBezTo>
                  <a:cubicBezTo>
                    <a:pt x="2825298" y="12470"/>
                    <a:pt x="2828033" y="19072"/>
                    <a:pt x="2828033" y="25956"/>
                  </a:cubicBezTo>
                  <a:lnTo>
                    <a:pt x="2828033" y="873964"/>
                  </a:lnTo>
                  <a:cubicBezTo>
                    <a:pt x="2828033" y="888299"/>
                    <a:pt x="2816412" y="899920"/>
                    <a:pt x="2802077" y="899920"/>
                  </a:cubicBezTo>
                  <a:lnTo>
                    <a:pt x="25956" y="899920"/>
                  </a:lnTo>
                  <a:cubicBezTo>
                    <a:pt x="11621" y="899920"/>
                    <a:pt x="0" y="888299"/>
                    <a:pt x="0" y="873964"/>
                  </a:cubicBezTo>
                  <a:lnTo>
                    <a:pt x="0" y="25956"/>
                  </a:lnTo>
                  <a:cubicBezTo>
                    <a:pt x="0" y="11621"/>
                    <a:pt x="11621" y="0"/>
                    <a:pt x="25956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828033" cy="938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366907" y="6092254"/>
            <a:ext cx="10115408" cy="320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demonstrated the best predictive performance over all datasets.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offered consistent predictions and variable understanding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offered moderate performance and improved understanding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479143" y="1996089"/>
            <a:ext cx="10115408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1C29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metrics used: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84569" y="1513091"/>
            <a:ext cx="5606863" cy="52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34"/>
              </a:lnSpc>
              <a:spcBef>
                <a:spcPct val="0"/>
              </a:spcBef>
            </a:pPr>
            <a:r>
              <a:rPr lang="en-US" sz="3024" i="1" spc="-133">
                <a:solidFill>
                  <a:srgbClr val="313D66"/>
                </a:solidFill>
                <a:latin typeface="Helvetica Now Italics"/>
                <a:ea typeface="Helvetica Now Italics"/>
                <a:cs typeface="Helvetica Now Italics"/>
                <a:sym typeface="Helvetica Now Italics"/>
              </a:rPr>
              <a:t>Thesis Title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73861" y="2322384"/>
            <a:ext cx="14639229" cy="1867829"/>
            <a:chOff x="0" y="0"/>
            <a:chExt cx="3855599" cy="4919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55600" cy="491939"/>
            </a:xfrm>
            <a:custGeom>
              <a:avLst/>
              <a:gdLst/>
              <a:ahLst/>
              <a:cxnLst/>
              <a:rect l="l" t="t" r="r" b="b"/>
              <a:pathLst>
                <a:path w="3855600" h="491939">
                  <a:moveTo>
                    <a:pt x="19039" y="0"/>
                  </a:moveTo>
                  <a:lnTo>
                    <a:pt x="3836561" y="0"/>
                  </a:lnTo>
                  <a:cubicBezTo>
                    <a:pt x="3841610" y="0"/>
                    <a:pt x="3846453" y="2006"/>
                    <a:pt x="3850023" y="5576"/>
                  </a:cubicBezTo>
                  <a:cubicBezTo>
                    <a:pt x="3853594" y="9147"/>
                    <a:pt x="3855600" y="13989"/>
                    <a:pt x="3855600" y="19039"/>
                  </a:cubicBezTo>
                  <a:lnTo>
                    <a:pt x="3855600" y="472900"/>
                  </a:lnTo>
                  <a:cubicBezTo>
                    <a:pt x="3855600" y="477949"/>
                    <a:pt x="3853594" y="482792"/>
                    <a:pt x="3850023" y="486362"/>
                  </a:cubicBezTo>
                  <a:cubicBezTo>
                    <a:pt x="3846453" y="489933"/>
                    <a:pt x="3841610" y="491939"/>
                    <a:pt x="3836561" y="491939"/>
                  </a:cubicBezTo>
                  <a:lnTo>
                    <a:pt x="19039" y="491939"/>
                  </a:lnTo>
                  <a:cubicBezTo>
                    <a:pt x="13989" y="491939"/>
                    <a:pt x="9147" y="489933"/>
                    <a:pt x="5576" y="486362"/>
                  </a:cubicBezTo>
                  <a:cubicBezTo>
                    <a:pt x="2006" y="482792"/>
                    <a:pt x="0" y="477949"/>
                    <a:pt x="0" y="472900"/>
                  </a:cubicBezTo>
                  <a:lnTo>
                    <a:pt x="0" y="19039"/>
                  </a:lnTo>
                  <a:cubicBezTo>
                    <a:pt x="0" y="13989"/>
                    <a:pt x="2006" y="9147"/>
                    <a:pt x="5576" y="5576"/>
                  </a:cubicBezTo>
                  <a:cubicBezTo>
                    <a:pt x="9147" y="2006"/>
                    <a:pt x="13989" y="0"/>
                    <a:pt x="19039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55599" cy="530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58723" y="4552164"/>
            <a:ext cx="6027192" cy="4709773"/>
          </a:xfrm>
          <a:custGeom>
            <a:avLst/>
            <a:gdLst/>
            <a:ahLst/>
            <a:cxnLst/>
            <a:rect l="l" t="t" r="r" b="b"/>
            <a:pathLst>
              <a:path w="6027192" h="4709773">
                <a:moveTo>
                  <a:pt x="0" y="0"/>
                </a:moveTo>
                <a:lnTo>
                  <a:pt x="6027192" y="0"/>
                </a:lnTo>
                <a:lnTo>
                  <a:pt x="6027192" y="4709772"/>
                </a:lnTo>
                <a:lnTo>
                  <a:pt x="0" y="470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631983" y="4771273"/>
            <a:ext cx="5363751" cy="4498811"/>
          </a:xfrm>
          <a:custGeom>
            <a:avLst/>
            <a:gdLst/>
            <a:ahLst/>
            <a:cxnLst/>
            <a:rect l="l" t="t" r="r" b="b"/>
            <a:pathLst>
              <a:path w="5363751" h="4498811">
                <a:moveTo>
                  <a:pt x="0" y="0"/>
                </a:moveTo>
                <a:lnTo>
                  <a:pt x="5363751" y="0"/>
                </a:lnTo>
                <a:lnTo>
                  <a:pt x="5363751" y="4498811"/>
                </a:lnTo>
                <a:lnTo>
                  <a:pt x="0" y="4498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828696" y="1123950"/>
            <a:ext cx="1063060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Preliminary Visualization 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1301" y="2410878"/>
            <a:ext cx="13563131" cy="160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churn distribution and customer segments comparison charts.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model performance comparison charts.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churn risk segmentation outputs for Tableau visualization.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7348" y="9158314"/>
            <a:ext cx="13563131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by gender for telecom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59590" y="9207844"/>
            <a:ext cx="13563131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Comaparison Chart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96800" y="9143758"/>
            <a:ext cx="13563131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Churn Risk Segmentation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E8756A-8253-E449-6883-7825FDADD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0496" y="4754618"/>
            <a:ext cx="5733299" cy="43149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27182" y="995362"/>
            <a:ext cx="1379802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Challenges Encountered and Mitigation Strategy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73861" y="2322384"/>
            <a:ext cx="14639229" cy="2120102"/>
            <a:chOff x="0" y="0"/>
            <a:chExt cx="3855599" cy="558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55600" cy="558381"/>
            </a:xfrm>
            <a:custGeom>
              <a:avLst/>
              <a:gdLst/>
              <a:ahLst/>
              <a:cxnLst/>
              <a:rect l="l" t="t" r="r" b="b"/>
              <a:pathLst>
                <a:path w="3855600" h="558381">
                  <a:moveTo>
                    <a:pt x="19039" y="0"/>
                  </a:moveTo>
                  <a:lnTo>
                    <a:pt x="3836561" y="0"/>
                  </a:lnTo>
                  <a:cubicBezTo>
                    <a:pt x="3841610" y="0"/>
                    <a:pt x="3846453" y="2006"/>
                    <a:pt x="3850023" y="5576"/>
                  </a:cubicBezTo>
                  <a:cubicBezTo>
                    <a:pt x="3853594" y="9147"/>
                    <a:pt x="3855600" y="13989"/>
                    <a:pt x="3855600" y="19039"/>
                  </a:cubicBezTo>
                  <a:lnTo>
                    <a:pt x="3855600" y="539342"/>
                  </a:lnTo>
                  <a:cubicBezTo>
                    <a:pt x="3855600" y="544392"/>
                    <a:pt x="3853594" y="549234"/>
                    <a:pt x="3850023" y="552804"/>
                  </a:cubicBezTo>
                  <a:cubicBezTo>
                    <a:pt x="3846453" y="556375"/>
                    <a:pt x="3841610" y="558381"/>
                    <a:pt x="3836561" y="558381"/>
                  </a:cubicBezTo>
                  <a:lnTo>
                    <a:pt x="19039" y="558381"/>
                  </a:lnTo>
                  <a:cubicBezTo>
                    <a:pt x="13989" y="558381"/>
                    <a:pt x="9147" y="556375"/>
                    <a:pt x="5576" y="552804"/>
                  </a:cubicBezTo>
                  <a:cubicBezTo>
                    <a:pt x="2006" y="549234"/>
                    <a:pt x="0" y="544392"/>
                    <a:pt x="0" y="539342"/>
                  </a:cubicBezTo>
                  <a:lnTo>
                    <a:pt x="0" y="19039"/>
                  </a:lnTo>
                  <a:cubicBezTo>
                    <a:pt x="0" y="13989"/>
                    <a:pt x="2006" y="9147"/>
                    <a:pt x="5576" y="5576"/>
                  </a:cubicBezTo>
                  <a:cubicBezTo>
                    <a:pt x="9147" y="2006"/>
                    <a:pt x="13989" y="0"/>
                    <a:pt x="19039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55599" cy="596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43422" y="2227134"/>
            <a:ext cx="10115408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1C29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Integration in SaaS: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3422" y="2993677"/>
            <a:ext cx="13563131" cy="10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tables needed aggregation and merging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Solved by developing account level metrics for usage and support.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73861" y="4928261"/>
            <a:ext cx="14639229" cy="2120102"/>
            <a:chOff x="0" y="0"/>
            <a:chExt cx="3855599" cy="5583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55600" cy="558381"/>
            </a:xfrm>
            <a:custGeom>
              <a:avLst/>
              <a:gdLst/>
              <a:ahLst/>
              <a:cxnLst/>
              <a:rect l="l" t="t" r="r" b="b"/>
              <a:pathLst>
                <a:path w="3855600" h="558381">
                  <a:moveTo>
                    <a:pt x="19039" y="0"/>
                  </a:moveTo>
                  <a:lnTo>
                    <a:pt x="3836561" y="0"/>
                  </a:lnTo>
                  <a:cubicBezTo>
                    <a:pt x="3841610" y="0"/>
                    <a:pt x="3846453" y="2006"/>
                    <a:pt x="3850023" y="5576"/>
                  </a:cubicBezTo>
                  <a:cubicBezTo>
                    <a:pt x="3853594" y="9147"/>
                    <a:pt x="3855600" y="13989"/>
                    <a:pt x="3855600" y="19039"/>
                  </a:cubicBezTo>
                  <a:lnTo>
                    <a:pt x="3855600" y="539342"/>
                  </a:lnTo>
                  <a:cubicBezTo>
                    <a:pt x="3855600" y="544392"/>
                    <a:pt x="3853594" y="549234"/>
                    <a:pt x="3850023" y="552804"/>
                  </a:cubicBezTo>
                  <a:cubicBezTo>
                    <a:pt x="3846453" y="556375"/>
                    <a:pt x="3841610" y="558381"/>
                    <a:pt x="3836561" y="558381"/>
                  </a:cubicBezTo>
                  <a:lnTo>
                    <a:pt x="19039" y="558381"/>
                  </a:lnTo>
                  <a:cubicBezTo>
                    <a:pt x="13989" y="558381"/>
                    <a:pt x="9147" y="556375"/>
                    <a:pt x="5576" y="552804"/>
                  </a:cubicBezTo>
                  <a:cubicBezTo>
                    <a:pt x="2006" y="549234"/>
                    <a:pt x="0" y="544392"/>
                    <a:pt x="0" y="539342"/>
                  </a:cubicBezTo>
                  <a:lnTo>
                    <a:pt x="0" y="19039"/>
                  </a:lnTo>
                  <a:cubicBezTo>
                    <a:pt x="0" y="13989"/>
                    <a:pt x="2006" y="9147"/>
                    <a:pt x="5576" y="5576"/>
                  </a:cubicBezTo>
                  <a:cubicBezTo>
                    <a:pt x="9147" y="2006"/>
                    <a:pt x="13989" y="0"/>
                    <a:pt x="19039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855599" cy="596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73861" y="7534138"/>
            <a:ext cx="14639229" cy="2120102"/>
            <a:chOff x="0" y="0"/>
            <a:chExt cx="3855599" cy="5583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55600" cy="558381"/>
            </a:xfrm>
            <a:custGeom>
              <a:avLst/>
              <a:gdLst/>
              <a:ahLst/>
              <a:cxnLst/>
              <a:rect l="l" t="t" r="r" b="b"/>
              <a:pathLst>
                <a:path w="3855600" h="558381">
                  <a:moveTo>
                    <a:pt x="19039" y="0"/>
                  </a:moveTo>
                  <a:lnTo>
                    <a:pt x="3836561" y="0"/>
                  </a:lnTo>
                  <a:cubicBezTo>
                    <a:pt x="3841610" y="0"/>
                    <a:pt x="3846453" y="2006"/>
                    <a:pt x="3850023" y="5576"/>
                  </a:cubicBezTo>
                  <a:cubicBezTo>
                    <a:pt x="3853594" y="9147"/>
                    <a:pt x="3855600" y="13989"/>
                    <a:pt x="3855600" y="19039"/>
                  </a:cubicBezTo>
                  <a:lnTo>
                    <a:pt x="3855600" y="539342"/>
                  </a:lnTo>
                  <a:cubicBezTo>
                    <a:pt x="3855600" y="544392"/>
                    <a:pt x="3853594" y="549234"/>
                    <a:pt x="3850023" y="552804"/>
                  </a:cubicBezTo>
                  <a:cubicBezTo>
                    <a:pt x="3846453" y="556375"/>
                    <a:pt x="3841610" y="558381"/>
                    <a:pt x="3836561" y="558381"/>
                  </a:cubicBezTo>
                  <a:lnTo>
                    <a:pt x="19039" y="558381"/>
                  </a:lnTo>
                  <a:cubicBezTo>
                    <a:pt x="13989" y="558381"/>
                    <a:pt x="9147" y="556375"/>
                    <a:pt x="5576" y="552804"/>
                  </a:cubicBezTo>
                  <a:cubicBezTo>
                    <a:pt x="2006" y="549234"/>
                    <a:pt x="0" y="544392"/>
                    <a:pt x="0" y="539342"/>
                  </a:cubicBezTo>
                  <a:lnTo>
                    <a:pt x="0" y="19039"/>
                  </a:lnTo>
                  <a:cubicBezTo>
                    <a:pt x="0" y="13989"/>
                    <a:pt x="2006" y="9147"/>
                    <a:pt x="5576" y="5576"/>
                  </a:cubicBezTo>
                  <a:cubicBezTo>
                    <a:pt x="9147" y="2006"/>
                    <a:pt x="13989" y="0"/>
                    <a:pt x="19039" y="0"/>
                  </a:cubicBezTo>
                  <a:close/>
                </a:path>
              </a:pathLst>
            </a:custGeom>
            <a:ln w="19050" cap="rnd">
              <a:solidFill>
                <a:srgbClr val="313D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855599" cy="596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43422" y="5048250"/>
            <a:ext cx="10115408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1C29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Missing data and quality: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3422" y="5816600"/>
            <a:ext cx="13563131" cy="10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Inconsistent billing and engagement variables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Addressed through data type correction and median/ zero imputation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3422" y="7657963"/>
            <a:ext cx="1011540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1C29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Consistency in modeling across industries:</a:t>
            </a:r>
          </a:p>
          <a:p>
            <a:pPr algn="l">
              <a:lnSpc>
                <a:spcPts val="4900"/>
              </a:lnSpc>
            </a:pPr>
            <a:endParaRPr lang="en-US" sz="3500" b="1">
              <a:solidFill>
                <a:srgbClr val="1C29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43422" y="8321538"/>
            <a:ext cx="13563131" cy="10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structures in datasets made comparison challenging </a:t>
            </a:r>
          </a:p>
          <a:p>
            <a:pPr marL="647705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Standarlized preprocessing and same machine learning model used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57137" y="2547427"/>
            <a:ext cx="3001618" cy="1173980"/>
            <a:chOff x="0" y="0"/>
            <a:chExt cx="1598349" cy="625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8349" cy="625139"/>
            </a:xfrm>
            <a:custGeom>
              <a:avLst/>
              <a:gdLst/>
              <a:ahLst/>
              <a:cxnLst/>
              <a:rect l="l" t="t" r="r" b="b"/>
              <a:pathLst>
                <a:path w="1598349" h="625139">
                  <a:moveTo>
                    <a:pt x="1395149" y="0"/>
                  </a:moveTo>
                  <a:lnTo>
                    <a:pt x="0" y="0"/>
                  </a:lnTo>
                  <a:lnTo>
                    <a:pt x="0" y="625139"/>
                  </a:lnTo>
                  <a:lnTo>
                    <a:pt x="1395149" y="625139"/>
                  </a:lnTo>
                  <a:lnTo>
                    <a:pt x="1598349" y="312570"/>
                  </a:lnTo>
                  <a:lnTo>
                    <a:pt x="1395149" y="0"/>
                  </a:lnTo>
                  <a:close/>
                </a:path>
              </a:pathLst>
            </a:custGeom>
            <a:solidFill>
              <a:srgbClr val="00A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84049" cy="653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2949959" y="2571663"/>
            <a:ext cx="2302646" cy="6723054"/>
          </a:xfrm>
          <a:custGeom>
            <a:avLst/>
            <a:gdLst/>
            <a:ahLst/>
            <a:cxnLst/>
            <a:rect l="l" t="t" r="r" b="b"/>
            <a:pathLst>
              <a:path w="2302646" h="6723054">
                <a:moveTo>
                  <a:pt x="0" y="0"/>
                </a:moveTo>
                <a:lnTo>
                  <a:pt x="2302646" y="0"/>
                </a:lnTo>
                <a:lnTo>
                  <a:pt x="2302646" y="6723054"/>
                </a:lnTo>
                <a:lnTo>
                  <a:pt x="0" y="6723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1081513" y="2547427"/>
            <a:ext cx="3001618" cy="1173980"/>
            <a:chOff x="0" y="0"/>
            <a:chExt cx="1598349" cy="6251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98349" cy="625139"/>
            </a:xfrm>
            <a:custGeom>
              <a:avLst/>
              <a:gdLst/>
              <a:ahLst/>
              <a:cxnLst/>
              <a:rect l="l" t="t" r="r" b="b"/>
              <a:pathLst>
                <a:path w="1598349" h="625139">
                  <a:moveTo>
                    <a:pt x="1395149" y="0"/>
                  </a:moveTo>
                  <a:lnTo>
                    <a:pt x="0" y="0"/>
                  </a:lnTo>
                  <a:lnTo>
                    <a:pt x="0" y="625139"/>
                  </a:lnTo>
                  <a:lnTo>
                    <a:pt x="1395149" y="625139"/>
                  </a:lnTo>
                  <a:lnTo>
                    <a:pt x="1598349" y="312570"/>
                  </a:lnTo>
                  <a:lnTo>
                    <a:pt x="1395149" y="0"/>
                  </a:lnTo>
                  <a:close/>
                </a:path>
              </a:pathLst>
            </a:custGeom>
            <a:solidFill>
              <a:srgbClr val="308F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484049" cy="653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10800000">
            <a:off x="10029604" y="2571663"/>
            <a:ext cx="2302646" cy="6723054"/>
          </a:xfrm>
          <a:custGeom>
            <a:avLst/>
            <a:gdLst/>
            <a:ahLst/>
            <a:cxnLst/>
            <a:rect l="l" t="t" r="r" b="b"/>
            <a:pathLst>
              <a:path w="2302646" h="6723054">
                <a:moveTo>
                  <a:pt x="0" y="0"/>
                </a:moveTo>
                <a:lnTo>
                  <a:pt x="2302646" y="0"/>
                </a:lnTo>
                <a:lnTo>
                  <a:pt x="2302646" y="6723054"/>
                </a:lnTo>
                <a:lnTo>
                  <a:pt x="0" y="6723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7905889" y="2547427"/>
            <a:ext cx="3001618" cy="1173980"/>
            <a:chOff x="0" y="0"/>
            <a:chExt cx="1598349" cy="62513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98349" cy="625139"/>
            </a:xfrm>
            <a:custGeom>
              <a:avLst/>
              <a:gdLst/>
              <a:ahLst/>
              <a:cxnLst/>
              <a:rect l="l" t="t" r="r" b="b"/>
              <a:pathLst>
                <a:path w="1598349" h="625139">
                  <a:moveTo>
                    <a:pt x="1395149" y="0"/>
                  </a:moveTo>
                  <a:lnTo>
                    <a:pt x="0" y="0"/>
                  </a:lnTo>
                  <a:lnTo>
                    <a:pt x="0" y="625139"/>
                  </a:lnTo>
                  <a:lnTo>
                    <a:pt x="1395149" y="625139"/>
                  </a:lnTo>
                  <a:lnTo>
                    <a:pt x="1598349" y="312570"/>
                  </a:lnTo>
                  <a:lnTo>
                    <a:pt x="1395149" y="0"/>
                  </a:lnTo>
                  <a:close/>
                </a:path>
              </a:pathLst>
            </a:custGeom>
            <a:solidFill>
              <a:srgbClr val="8595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484049" cy="653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10800000">
            <a:off x="6850549" y="2535246"/>
            <a:ext cx="2302646" cy="6723054"/>
          </a:xfrm>
          <a:custGeom>
            <a:avLst/>
            <a:gdLst/>
            <a:ahLst/>
            <a:cxnLst/>
            <a:rect l="l" t="t" r="r" b="b"/>
            <a:pathLst>
              <a:path w="2302646" h="6723054">
                <a:moveTo>
                  <a:pt x="0" y="0"/>
                </a:moveTo>
                <a:lnTo>
                  <a:pt x="2302646" y="0"/>
                </a:lnTo>
                <a:lnTo>
                  <a:pt x="2302646" y="6723054"/>
                </a:lnTo>
                <a:lnTo>
                  <a:pt x="0" y="6723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4730266" y="2547427"/>
            <a:ext cx="3001618" cy="1173980"/>
            <a:chOff x="0" y="0"/>
            <a:chExt cx="1598349" cy="6251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98349" cy="625139"/>
            </a:xfrm>
            <a:custGeom>
              <a:avLst/>
              <a:gdLst/>
              <a:ahLst/>
              <a:cxnLst/>
              <a:rect l="l" t="t" r="r" b="b"/>
              <a:pathLst>
                <a:path w="1598349" h="625139">
                  <a:moveTo>
                    <a:pt x="1395149" y="0"/>
                  </a:moveTo>
                  <a:lnTo>
                    <a:pt x="0" y="0"/>
                  </a:lnTo>
                  <a:lnTo>
                    <a:pt x="0" y="625139"/>
                  </a:lnTo>
                  <a:lnTo>
                    <a:pt x="1395149" y="625139"/>
                  </a:lnTo>
                  <a:lnTo>
                    <a:pt x="1598349" y="312570"/>
                  </a:lnTo>
                  <a:lnTo>
                    <a:pt x="1395149" y="0"/>
                  </a:lnTo>
                  <a:close/>
                </a:path>
              </a:pathLst>
            </a:custGeom>
            <a:solidFill>
              <a:srgbClr val="7CA5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484049" cy="653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-10800000">
            <a:off x="3790003" y="2571663"/>
            <a:ext cx="2302646" cy="6723054"/>
          </a:xfrm>
          <a:custGeom>
            <a:avLst/>
            <a:gdLst/>
            <a:ahLst/>
            <a:cxnLst/>
            <a:rect l="l" t="t" r="r" b="b"/>
            <a:pathLst>
              <a:path w="2302646" h="6723054">
                <a:moveTo>
                  <a:pt x="0" y="0"/>
                </a:moveTo>
                <a:lnTo>
                  <a:pt x="2302646" y="0"/>
                </a:lnTo>
                <a:lnTo>
                  <a:pt x="2302646" y="6723054"/>
                </a:lnTo>
                <a:lnTo>
                  <a:pt x="0" y="6723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554642" y="2547427"/>
            <a:ext cx="3001618" cy="1173980"/>
            <a:chOff x="0" y="0"/>
            <a:chExt cx="1598349" cy="62513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98349" cy="625139"/>
            </a:xfrm>
            <a:custGeom>
              <a:avLst/>
              <a:gdLst/>
              <a:ahLst/>
              <a:cxnLst/>
              <a:rect l="l" t="t" r="r" b="b"/>
              <a:pathLst>
                <a:path w="1598349" h="625139">
                  <a:moveTo>
                    <a:pt x="1395149" y="0"/>
                  </a:moveTo>
                  <a:lnTo>
                    <a:pt x="0" y="0"/>
                  </a:lnTo>
                  <a:lnTo>
                    <a:pt x="0" y="625139"/>
                  </a:lnTo>
                  <a:lnTo>
                    <a:pt x="1395149" y="625139"/>
                  </a:lnTo>
                  <a:lnTo>
                    <a:pt x="1598349" y="312570"/>
                  </a:lnTo>
                  <a:lnTo>
                    <a:pt x="1395149" y="0"/>
                  </a:lnTo>
                  <a:close/>
                </a:path>
              </a:pathLst>
            </a:custGeom>
            <a:solidFill>
              <a:srgbClr val="00A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484049" cy="653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-10800000">
            <a:off x="457160" y="2535246"/>
            <a:ext cx="2302646" cy="6723054"/>
          </a:xfrm>
          <a:custGeom>
            <a:avLst/>
            <a:gdLst/>
            <a:ahLst/>
            <a:cxnLst/>
            <a:rect l="l" t="t" r="r" b="b"/>
            <a:pathLst>
              <a:path w="2302646" h="6723054">
                <a:moveTo>
                  <a:pt x="0" y="0"/>
                </a:moveTo>
                <a:lnTo>
                  <a:pt x="2302646" y="0"/>
                </a:lnTo>
                <a:lnTo>
                  <a:pt x="2302646" y="6723054"/>
                </a:lnTo>
                <a:lnTo>
                  <a:pt x="0" y="6723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H="1">
            <a:off x="2061317" y="9018433"/>
            <a:ext cx="2345437" cy="0"/>
          </a:xfrm>
          <a:prstGeom prst="line">
            <a:avLst/>
          </a:prstGeom>
          <a:ln w="133350" cap="flat">
            <a:solidFill>
              <a:srgbClr val="00AE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H="1">
            <a:off x="5236940" y="9018433"/>
            <a:ext cx="2345437" cy="0"/>
          </a:xfrm>
          <a:prstGeom prst="line">
            <a:avLst/>
          </a:prstGeom>
          <a:ln w="133350" cap="flat">
            <a:solidFill>
              <a:srgbClr val="7CA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H="1">
            <a:off x="8412564" y="9018433"/>
            <a:ext cx="2345437" cy="0"/>
          </a:xfrm>
          <a:prstGeom prst="line">
            <a:avLst/>
          </a:prstGeom>
          <a:ln w="133350" cap="flat">
            <a:solidFill>
              <a:srgbClr val="1659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 flipH="1">
            <a:off x="11588188" y="9018433"/>
            <a:ext cx="2345437" cy="0"/>
          </a:xfrm>
          <a:prstGeom prst="line">
            <a:avLst/>
          </a:prstGeom>
          <a:ln w="133350" cap="flat">
            <a:solidFill>
              <a:srgbClr val="0F498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 flipH="1">
            <a:off x="14763811" y="9018433"/>
            <a:ext cx="2345437" cy="0"/>
          </a:xfrm>
          <a:prstGeom prst="line">
            <a:avLst/>
          </a:prstGeom>
          <a:ln w="133350" cap="flat">
            <a:solidFill>
              <a:srgbClr val="7CA5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6573863" y="2866063"/>
            <a:ext cx="536706" cy="536706"/>
          </a:xfrm>
          <a:custGeom>
            <a:avLst/>
            <a:gdLst/>
            <a:ahLst/>
            <a:cxnLst/>
            <a:rect l="l" t="t" r="r" b="b"/>
            <a:pathLst>
              <a:path w="536706" h="536706">
                <a:moveTo>
                  <a:pt x="0" y="0"/>
                </a:moveTo>
                <a:lnTo>
                  <a:pt x="536706" y="0"/>
                </a:lnTo>
                <a:lnTo>
                  <a:pt x="536706" y="536707"/>
                </a:lnTo>
                <a:lnTo>
                  <a:pt x="0" y="536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6125583" y="2838481"/>
            <a:ext cx="514567" cy="536706"/>
          </a:xfrm>
          <a:custGeom>
            <a:avLst/>
            <a:gdLst/>
            <a:ahLst/>
            <a:cxnLst/>
            <a:rect l="l" t="t" r="r" b="b"/>
            <a:pathLst>
              <a:path w="514567" h="536706">
                <a:moveTo>
                  <a:pt x="0" y="0"/>
                </a:moveTo>
                <a:lnTo>
                  <a:pt x="514567" y="0"/>
                </a:lnTo>
                <a:lnTo>
                  <a:pt x="514567" y="536707"/>
                </a:lnTo>
                <a:lnTo>
                  <a:pt x="0" y="536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2902748" y="2866063"/>
            <a:ext cx="559798" cy="536706"/>
          </a:xfrm>
          <a:custGeom>
            <a:avLst/>
            <a:gdLst/>
            <a:ahLst/>
            <a:cxnLst/>
            <a:rect l="l" t="t" r="r" b="b"/>
            <a:pathLst>
              <a:path w="559798" h="536706">
                <a:moveTo>
                  <a:pt x="0" y="0"/>
                </a:moveTo>
                <a:lnTo>
                  <a:pt x="559797" y="0"/>
                </a:lnTo>
                <a:lnTo>
                  <a:pt x="559797" y="536707"/>
                </a:lnTo>
                <a:lnTo>
                  <a:pt x="0" y="5367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3221339" y="2892249"/>
            <a:ext cx="482939" cy="482939"/>
          </a:xfrm>
          <a:custGeom>
            <a:avLst/>
            <a:gdLst/>
            <a:ahLst/>
            <a:cxnLst/>
            <a:rect l="l" t="t" r="r" b="b"/>
            <a:pathLst>
              <a:path w="482939" h="482939">
                <a:moveTo>
                  <a:pt x="0" y="0"/>
                </a:moveTo>
                <a:lnTo>
                  <a:pt x="482939" y="0"/>
                </a:lnTo>
                <a:lnTo>
                  <a:pt x="482939" y="482939"/>
                </a:lnTo>
                <a:lnTo>
                  <a:pt x="0" y="4829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9610395" y="2866063"/>
            <a:ext cx="746703" cy="548827"/>
          </a:xfrm>
          <a:custGeom>
            <a:avLst/>
            <a:gdLst/>
            <a:ahLst/>
            <a:cxnLst/>
            <a:rect l="l" t="t" r="r" b="b"/>
            <a:pathLst>
              <a:path w="746703" h="548827">
                <a:moveTo>
                  <a:pt x="0" y="0"/>
                </a:moveTo>
                <a:lnTo>
                  <a:pt x="746704" y="0"/>
                </a:lnTo>
                <a:lnTo>
                  <a:pt x="746704" y="548828"/>
                </a:lnTo>
                <a:lnTo>
                  <a:pt x="0" y="5488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2427182" y="995362"/>
            <a:ext cx="1379802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Planned Analytical Approach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913318" y="2771806"/>
            <a:ext cx="1097965" cy="6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sz="37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737694" y="2771806"/>
            <a:ext cx="1097965" cy="6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sz="37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62070" y="2771806"/>
            <a:ext cx="1097965" cy="6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sz="37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86447" y="2771806"/>
            <a:ext cx="1097965" cy="6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sz="37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57486" y="4238178"/>
            <a:ext cx="2195931" cy="24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out hyperparameter tuning and model optimization to improve the prediction result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210823" y="2771806"/>
            <a:ext cx="1097965" cy="6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sz="37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86447" y="4378632"/>
            <a:ext cx="2195931" cy="24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out customer risk segmentation to categorize into high, medium and low risk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08733" y="4378632"/>
            <a:ext cx="2195931" cy="330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interactive Tableau dashboards to present customer churn insights and model comparision result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33364" y="4378632"/>
            <a:ext cx="2195931" cy="24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Carry out cross-industry analytical comparison to compare industry churn causes  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491294" y="4483407"/>
            <a:ext cx="2195931" cy="24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sz="23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strategic recommendations and report based on customer churn prediction </a:t>
            </a:r>
          </a:p>
          <a:p>
            <a:pPr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9851144"/>
            <a:ext cx="18288000" cy="435856"/>
            <a:chOff x="0" y="0"/>
            <a:chExt cx="4816593" cy="1147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4793"/>
            </a:xfrm>
            <a:custGeom>
              <a:avLst/>
              <a:gdLst/>
              <a:ahLst/>
              <a:cxnLst/>
              <a:rect l="l" t="t" r="r" b="b"/>
              <a:pathLst>
                <a:path w="4816592" h="114793">
                  <a:moveTo>
                    <a:pt x="0" y="0"/>
                  </a:moveTo>
                  <a:lnTo>
                    <a:pt x="4816592" y="0"/>
                  </a:lnTo>
                  <a:lnTo>
                    <a:pt x="4816592" y="114793"/>
                  </a:lnTo>
                  <a:lnTo>
                    <a:pt x="0" y="114793"/>
                  </a:ln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52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908939"/>
            <a:ext cx="16230600" cy="1106296"/>
            <a:chOff x="0" y="0"/>
            <a:chExt cx="4274726" cy="2913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4726" cy="291370"/>
            </a:xfrm>
            <a:custGeom>
              <a:avLst/>
              <a:gdLst/>
              <a:ahLst/>
              <a:cxnLst/>
              <a:rect l="l" t="t" r="r" b="b"/>
              <a:pathLst>
                <a:path w="4274726" h="291370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74198"/>
                  </a:lnTo>
                  <a:cubicBezTo>
                    <a:pt x="4274726" y="283682"/>
                    <a:pt x="4267038" y="291370"/>
                    <a:pt x="4257554" y="291370"/>
                  </a:cubicBezTo>
                  <a:lnTo>
                    <a:pt x="17172" y="291370"/>
                  </a:lnTo>
                  <a:cubicBezTo>
                    <a:pt x="7688" y="291370"/>
                    <a:pt x="0" y="283682"/>
                    <a:pt x="0" y="274198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274726" cy="329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27182" y="995362"/>
            <a:ext cx="1379802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F6F2EA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Updated Timeline 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2427182" y="8126480"/>
            <a:ext cx="14296426" cy="0"/>
          </a:xfrm>
          <a:prstGeom prst="line">
            <a:avLst/>
          </a:prstGeom>
          <a:ln w="76200" cap="flat">
            <a:gradFill>
              <a:gsLst>
                <a:gs pos="0">
                  <a:srgbClr val="979CFF">
                    <a:alpha val="100000"/>
                  </a:srgbClr>
                </a:gs>
                <a:gs pos="16667">
                  <a:srgbClr val="196D73">
                    <a:alpha val="100000"/>
                  </a:srgbClr>
                </a:gs>
                <a:gs pos="33333">
                  <a:srgbClr val="1C8CC3">
                    <a:alpha val="100000"/>
                  </a:srgbClr>
                </a:gs>
                <a:gs pos="50000">
                  <a:srgbClr val="11B8C3">
                    <a:alpha val="100000"/>
                  </a:srgbClr>
                </a:gs>
                <a:gs pos="66667">
                  <a:srgbClr val="00369F">
                    <a:alpha val="100000"/>
                  </a:srgbClr>
                </a:gs>
                <a:gs pos="83333">
                  <a:srgbClr val="334B9F">
                    <a:alpha val="100000"/>
                  </a:srgbClr>
                </a:gs>
                <a:gs pos="100000">
                  <a:srgbClr val="17187A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3512529" y="7946255"/>
            <a:ext cx="360450" cy="360450"/>
            <a:chOff x="0" y="0"/>
            <a:chExt cx="1108765" cy="11087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47" y="75372"/>
              <a:ext cx="900872" cy="929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13063" y="7946255"/>
            <a:ext cx="360450" cy="360450"/>
            <a:chOff x="0" y="0"/>
            <a:chExt cx="1108765" cy="11087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00A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947" y="75372"/>
              <a:ext cx="900872" cy="929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13598" y="7946255"/>
            <a:ext cx="360450" cy="360450"/>
            <a:chOff x="0" y="0"/>
            <a:chExt cx="1108765" cy="11087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47" y="75372"/>
              <a:ext cx="900872" cy="929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14132" y="7946255"/>
            <a:ext cx="360450" cy="360450"/>
            <a:chOff x="0" y="0"/>
            <a:chExt cx="1108765" cy="11087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947" y="75372"/>
              <a:ext cx="900872" cy="929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114667" y="7946255"/>
            <a:ext cx="360450" cy="360450"/>
            <a:chOff x="0" y="0"/>
            <a:chExt cx="1108765" cy="11087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8765" cy="1108765"/>
            </a:xfrm>
            <a:custGeom>
              <a:avLst/>
              <a:gdLst/>
              <a:ahLst/>
              <a:cxnLst/>
              <a:rect l="l" t="t" r="r" b="b"/>
              <a:pathLst>
                <a:path w="1108765" h="1108765">
                  <a:moveTo>
                    <a:pt x="554383" y="0"/>
                  </a:moveTo>
                  <a:cubicBezTo>
                    <a:pt x="248206" y="0"/>
                    <a:pt x="0" y="248206"/>
                    <a:pt x="0" y="554383"/>
                  </a:cubicBezTo>
                  <a:cubicBezTo>
                    <a:pt x="0" y="860560"/>
                    <a:pt x="248206" y="1108765"/>
                    <a:pt x="554383" y="1108765"/>
                  </a:cubicBezTo>
                  <a:cubicBezTo>
                    <a:pt x="860560" y="1108765"/>
                    <a:pt x="1108765" y="860560"/>
                    <a:pt x="1108765" y="554383"/>
                  </a:cubicBezTo>
                  <a:cubicBezTo>
                    <a:pt x="1108765" y="248206"/>
                    <a:pt x="860560" y="0"/>
                    <a:pt x="554383" y="0"/>
                  </a:cubicBezTo>
                  <a:close/>
                </a:path>
              </a:pathLst>
            </a:custGeom>
            <a:solidFill>
              <a:srgbClr val="1C295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947" y="75372"/>
              <a:ext cx="900872" cy="929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27182" y="3412376"/>
            <a:ext cx="2434927" cy="4316339"/>
            <a:chOff x="0" y="0"/>
            <a:chExt cx="379877" cy="67339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79877" cy="663053"/>
            </a:xfrm>
            <a:custGeom>
              <a:avLst/>
              <a:gdLst/>
              <a:ahLst/>
              <a:cxnLst/>
              <a:rect l="l" t="t" r="r" b="b"/>
              <a:pathLst>
                <a:path w="379877" h="663053">
                  <a:moveTo>
                    <a:pt x="379877" y="37260"/>
                  </a:moveTo>
                  <a:lnTo>
                    <a:pt x="379877" y="521839"/>
                  </a:lnTo>
                  <a:cubicBezTo>
                    <a:pt x="379877" y="544960"/>
                    <a:pt x="367762" y="566390"/>
                    <a:pt x="347952" y="578311"/>
                  </a:cubicBezTo>
                  <a:lnTo>
                    <a:pt x="221864" y="654188"/>
                  </a:lnTo>
                  <a:cubicBezTo>
                    <a:pt x="202221" y="666008"/>
                    <a:pt x="177656" y="666008"/>
                    <a:pt x="158013" y="654188"/>
                  </a:cubicBezTo>
                  <a:lnTo>
                    <a:pt x="31925" y="578311"/>
                  </a:lnTo>
                  <a:cubicBezTo>
                    <a:pt x="12115" y="566390"/>
                    <a:pt x="0" y="544960"/>
                    <a:pt x="0" y="521839"/>
                  </a:cubicBezTo>
                  <a:lnTo>
                    <a:pt x="0" y="37260"/>
                  </a:lnTo>
                  <a:cubicBezTo>
                    <a:pt x="0" y="16682"/>
                    <a:pt x="16682" y="0"/>
                    <a:pt x="37260" y="0"/>
                  </a:cubicBezTo>
                  <a:lnTo>
                    <a:pt x="342617" y="0"/>
                  </a:lnTo>
                  <a:cubicBezTo>
                    <a:pt x="363195" y="0"/>
                    <a:pt x="379877" y="16682"/>
                    <a:pt x="379877" y="37260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91419" y="2759149"/>
            <a:ext cx="1306454" cy="130645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27717" y="3412376"/>
            <a:ext cx="2434927" cy="4316339"/>
            <a:chOff x="0" y="0"/>
            <a:chExt cx="379877" cy="6733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9877" cy="663053"/>
            </a:xfrm>
            <a:custGeom>
              <a:avLst/>
              <a:gdLst/>
              <a:ahLst/>
              <a:cxnLst/>
              <a:rect l="l" t="t" r="r" b="b"/>
              <a:pathLst>
                <a:path w="379877" h="663053">
                  <a:moveTo>
                    <a:pt x="379877" y="37260"/>
                  </a:moveTo>
                  <a:lnTo>
                    <a:pt x="379877" y="521839"/>
                  </a:lnTo>
                  <a:cubicBezTo>
                    <a:pt x="379877" y="544960"/>
                    <a:pt x="367762" y="566390"/>
                    <a:pt x="347952" y="578311"/>
                  </a:cubicBezTo>
                  <a:lnTo>
                    <a:pt x="221864" y="654188"/>
                  </a:lnTo>
                  <a:cubicBezTo>
                    <a:pt x="202221" y="666008"/>
                    <a:pt x="177656" y="666008"/>
                    <a:pt x="158013" y="654188"/>
                  </a:cubicBezTo>
                  <a:lnTo>
                    <a:pt x="31925" y="578311"/>
                  </a:lnTo>
                  <a:cubicBezTo>
                    <a:pt x="12115" y="566390"/>
                    <a:pt x="0" y="544960"/>
                    <a:pt x="0" y="521839"/>
                  </a:cubicBezTo>
                  <a:lnTo>
                    <a:pt x="0" y="37260"/>
                  </a:lnTo>
                  <a:cubicBezTo>
                    <a:pt x="0" y="16682"/>
                    <a:pt x="16682" y="0"/>
                    <a:pt x="37260" y="0"/>
                  </a:cubicBezTo>
                  <a:lnTo>
                    <a:pt x="342617" y="0"/>
                  </a:lnTo>
                  <a:cubicBezTo>
                    <a:pt x="363195" y="0"/>
                    <a:pt x="379877" y="16682"/>
                    <a:pt x="379877" y="37260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891953" y="2759149"/>
            <a:ext cx="1306454" cy="130645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28251" y="3412376"/>
            <a:ext cx="2434927" cy="4316339"/>
            <a:chOff x="0" y="0"/>
            <a:chExt cx="379877" cy="6733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79877" cy="663053"/>
            </a:xfrm>
            <a:custGeom>
              <a:avLst/>
              <a:gdLst/>
              <a:ahLst/>
              <a:cxnLst/>
              <a:rect l="l" t="t" r="r" b="b"/>
              <a:pathLst>
                <a:path w="379877" h="663053">
                  <a:moveTo>
                    <a:pt x="379877" y="37260"/>
                  </a:moveTo>
                  <a:lnTo>
                    <a:pt x="379877" y="521839"/>
                  </a:lnTo>
                  <a:cubicBezTo>
                    <a:pt x="379877" y="544960"/>
                    <a:pt x="367762" y="566390"/>
                    <a:pt x="347952" y="578311"/>
                  </a:cubicBezTo>
                  <a:lnTo>
                    <a:pt x="221864" y="654188"/>
                  </a:lnTo>
                  <a:cubicBezTo>
                    <a:pt x="202221" y="666008"/>
                    <a:pt x="177656" y="666008"/>
                    <a:pt x="158013" y="654188"/>
                  </a:cubicBezTo>
                  <a:lnTo>
                    <a:pt x="31925" y="578311"/>
                  </a:lnTo>
                  <a:cubicBezTo>
                    <a:pt x="12115" y="566390"/>
                    <a:pt x="0" y="544960"/>
                    <a:pt x="0" y="521839"/>
                  </a:cubicBezTo>
                  <a:lnTo>
                    <a:pt x="0" y="37260"/>
                  </a:lnTo>
                  <a:cubicBezTo>
                    <a:pt x="0" y="16682"/>
                    <a:pt x="16682" y="0"/>
                    <a:pt x="37260" y="0"/>
                  </a:cubicBezTo>
                  <a:lnTo>
                    <a:pt x="342617" y="0"/>
                  </a:lnTo>
                  <a:cubicBezTo>
                    <a:pt x="363195" y="0"/>
                    <a:pt x="379877" y="16682"/>
                    <a:pt x="379877" y="37260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792488" y="2759149"/>
            <a:ext cx="1306454" cy="1306454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128786" y="3412376"/>
            <a:ext cx="2434927" cy="4316339"/>
            <a:chOff x="0" y="0"/>
            <a:chExt cx="379877" cy="6733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9877" cy="663053"/>
            </a:xfrm>
            <a:custGeom>
              <a:avLst/>
              <a:gdLst/>
              <a:ahLst/>
              <a:cxnLst/>
              <a:rect l="l" t="t" r="r" b="b"/>
              <a:pathLst>
                <a:path w="379877" h="663053">
                  <a:moveTo>
                    <a:pt x="379877" y="37260"/>
                  </a:moveTo>
                  <a:lnTo>
                    <a:pt x="379877" y="521839"/>
                  </a:lnTo>
                  <a:cubicBezTo>
                    <a:pt x="379877" y="544960"/>
                    <a:pt x="367762" y="566390"/>
                    <a:pt x="347952" y="578311"/>
                  </a:cubicBezTo>
                  <a:lnTo>
                    <a:pt x="221864" y="654188"/>
                  </a:lnTo>
                  <a:cubicBezTo>
                    <a:pt x="202221" y="666008"/>
                    <a:pt x="177656" y="666008"/>
                    <a:pt x="158013" y="654188"/>
                  </a:cubicBezTo>
                  <a:lnTo>
                    <a:pt x="31925" y="578311"/>
                  </a:lnTo>
                  <a:cubicBezTo>
                    <a:pt x="12115" y="566390"/>
                    <a:pt x="0" y="544960"/>
                    <a:pt x="0" y="521839"/>
                  </a:cubicBezTo>
                  <a:lnTo>
                    <a:pt x="0" y="37260"/>
                  </a:lnTo>
                  <a:cubicBezTo>
                    <a:pt x="0" y="16682"/>
                    <a:pt x="16682" y="0"/>
                    <a:pt x="37260" y="0"/>
                  </a:cubicBezTo>
                  <a:lnTo>
                    <a:pt x="342617" y="0"/>
                  </a:lnTo>
                  <a:cubicBezTo>
                    <a:pt x="363195" y="0"/>
                    <a:pt x="379877" y="16682"/>
                    <a:pt x="379877" y="37260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693022" y="2759149"/>
            <a:ext cx="1306454" cy="1306454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3D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029320" y="3412376"/>
            <a:ext cx="2434927" cy="4316339"/>
            <a:chOff x="0" y="0"/>
            <a:chExt cx="379877" cy="67339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9877" cy="663053"/>
            </a:xfrm>
            <a:custGeom>
              <a:avLst/>
              <a:gdLst/>
              <a:ahLst/>
              <a:cxnLst/>
              <a:rect l="l" t="t" r="r" b="b"/>
              <a:pathLst>
                <a:path w="379877" h="663053">
                  <a:moveTo>
                    <a:pt x="379877" y="37260"/>
                  </a:moveTo>
                  <a:lnTo>
                    <a:pt x="379877" y="521839"/>
                  </a:lnTo>
                  <a:cubicBezTo>
                    <a:pt x="379877" y="544960"/>
                    <a:pt x="367762" y="566390"/>
                    <a:pt x="347952" y="578311"/>
                  </a:cubicBezTo>
                  <a:lnTo>
                    <a:pt x="221864" y="654188"/>
                  </a:lnTo>
                  <a:cubicBezTo>
                    <a:pt x="202221" y="666008"/>
                    <a:pt x="177656" y="666008"/>
                    <a:pt x="158013" y="654188"/>
                  </a:cubicBezTo>
                  <a:lnTo>
                    <a:pt x="31925" y="578311"/>
                  </a:lnTo>
                  <a:cubicBezTo>
                    <a:pt x="12115" y="566390"/>
                    <a:pt x="0" y="544960"/>
                    <a:pt x="0" y="521839"/>
                  </a:cubicBezTo>
                  <a:lnTo>
                    <a:pt x="0" y="37260"/>
                  </a:lnTo>
                  <a:cubicBezTo>
                    <a:pt x="0" y="16682"/>
                    <a:pt x="16682" y="0"/>
                    <a:pt x="37260" y="0"/>
                  </a:cubicBezTo>
                  <a:lnTo>
                    <a:pt x="342617" y="0"/>
                  </a:lnTo>
                  <a:cubicBezTo>
                    <a:pt x="363195" y="0"/>
                    <a:pt x="379877" y="16682"/>
                    <a:pt x="379877" y="37260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593556" y="2759149"/>
            <a:ext cx="1306454" cy="1306454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2676144" y="3001152"/>
            <a:ext cx="1937003" cy="73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</a:t>
            </a:r>
          </a:p>
          <a:p>
            <a:pPr marL="0" lvl="0" indent="0"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676144" y="8575869"/>
            <a:ext cx="1937003" cy="34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4"/>
              </a:lnSpc>
            </a:pPr>
            <a:r>
              <a:rPr lang="en-US" sz="2144" b="1">
                <a:solidFill>
                  <a:srgbClr val="1659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Mid March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576678" y="8600798"/>
            <a:ext cx="1937003" cy="34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4"/>
              </a:lnSpc>
            </a:pPr>
            <a:r>
              <a:rPr lang="en-US" sz="2144" b="1">
                <a:solidFill>
                  <a:srgbClr val="1659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 23 - Mar 29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75707" y="8600798"/>
            <a:ext cx="1937003" cy="34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4"/>
              </a:lnSpc>
            </a:pPr>
            <a:r>
              <a:rPr lang="en-US" sz="2144" b="1">
                <a:solidFill>
                  <a:srgbClr val="1659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 30 - Apr 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25855" y="8600798"/>
            <a:ext cx="1937003" cy="34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4"/>
              </a:lnSpc>
            </a:pPr>
            <a:r>
              <a:rPr lang="en-US" sz="2144" b="1">
                <a:solidFill>
                  <a:srgbClr val="1659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Apr 6- Apr 12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372509" y="8600798"/>
            <a:ext cx="1937003" cy="34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4"/>
              </a:lnSpc>
            </a:pPr>
            <a:r>
              <a:rPr lang="en-US" sz="2144" b="1">
                <a:solidFill>
                  <a:srgbClr val="1659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Apr 13- Apr 27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576678" y="3023837"/>
            <a:ext cx="1937003" cy="73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</a:t>
            </a:r>
          </a:p>
          <a:p>
            <a:pPr marL="0" lvl="0" indent="0"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77213" y="3023837"/>
            <a:ext cx="1937003" cy="73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</a:t>
            </a:r>
          </a:p>
          <a:p>
            <a:pPr marL="0" lvl="0" indent="0"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377553" y="3001152"/>
            <a:ext cx="1937003" cy="73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</a:t>
            </a:r>
          </a:p>
          <a:p>
            <a:pPr marL="0" lvl="0" indent="0"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278088" y="3001152"/>
            <a:ext cx="1937003" cy="73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 </a:t>
            </a:r>
          </a:p>
          <a:p>
            <a:pPr marL="0" lvl="0" indent="0" algn="ctr">
              <a:lnSpc>
                <a:spcPts val="2900"/>
              </a:lnSpc>
            </a:pPr>
            <a:r>
              <a:rPr lang="en-US" sz="226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284731" y="4269105"/>
            <a:ext cx="2455595" cy="160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Mid-semester evaluation presentation and feedback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185266" y="4269105"/>
            <a:ext cx="2455595" cy="280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tuning, advanced performance comparison, and churn risk segmentation development.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353194" y="4232776"/>
            <a:ext cx="2200800" cy="240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Tableau dashboard creation and visualization of cross-industry churn insights..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245655" y="4394701"/>
            <a:ext cx="2200800" cy="200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 of results and preparation of strategic retention recommendations.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135213" y="4432801"/>
            <a:ext cx="2200800" cy="200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report writing, dashboard refinement, and final presentation preparation.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42911" y="1684433"/>
            <a:ext cx="11599756" cy="519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6"/>
              </a:lnSpc>
              <a:spcBef>
                <a:spcPct val="0"/>
              </a:spcBef>
            </a:pPr>
            <a:r>
              <a:rPr lang="en-US" sz="24511" b="1">
                <a:solidFill>
                  <a:srgbClr val="1C2954"/>
                </a:solidFill>
                <a:latin typeface="Symphony Bold"/>
                <a:ea typeface="Symphony Bold"/>
                <a:cs typeface="Symphony Bold"/>
                <a:sym typeface="Symphony Bold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>
            <a:off x="14967463" y="4154041"/>
            <a:ext cx="1715434" cy="1649935"/>
          </a:xfrm>
          <a:custGeom>
            <a:avLst/>
            <a:gdLst/>
            <a:ahLst/>
            <a:cxnLst/>
            <a:rect l="l" t="t" r="r" b="b"/>
            <a:pathLst>
              <a:path w="1715434" h="1649935">
                <a:moveTo>
                  <a:pt x="0" y="0"/>
                </a:moveTo>
                <a:lnTo>
                  <a:pt x="1715434" y="0"/>
                </a:lnTo>
                <a:lnTo>
                  <a:pt x="1715434" y="1649936"/>
                </a:lnTo>
                <a:lnTo>
                  <a:pt x="0" y="1649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05103" y="4154041"/>
            <a:ext cx="1715434" cy="1649935"/>
          </a:xfrm>
          <a:custGeom>
            <a:avLst/>
            <a:gdLst/>
            <a:ahLst/>
            <a:cxnLst/>
            <a:rect l="l" t="t" r="r" b="b"/>
            <a:pathLst>
              <a:path w="1715434" h="1649935">
                <a:moveTo>
                  <a:pt x="0" y="0"/>
                </a:moveTo>
                <a:lnTo>
                  <a:pt x="1715434" y="0"/>
                </a:lnTo>
                <a:lnTo>
                  <a:pt x="1715434" y="1649936"/>
                </a:lnTo>
                <a:lnTo>
                  <a:pt x="0" y="1649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340569" y="8639794"/>
            <a:ext cx="5606863" cy="52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 i="1" spc="-133">
                <a:solidFill>
                  <a:srgbClr val="313D66"/>
                </a:solidFill>
                <a:latin typeface="Helvetica Now Italics"/>
                <a:ea typeface="Helvetica Now Italics"/>
                <a:cs typeface="Helvetica Now Italics"/>
                <a:sym typeface="Helvetica Now Italics"/>
              </a:rPr>
              <a:t>Sadikshya Shrestha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751</Words>
  <Application>Microsoft Office PowerPoint</Application>
  <PresentationFormat>Custom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Helvetica Now Italics</vt:lpstr>
      <vt:lpstr>Times New Roman Bold</vt:lpstr>
      <vt:lpstr>Clarendon Narrow</vt:lpstr>
      <vt:lpstr>Roboto Bold</vt:lpstr>
      <vt:lpstr>Symphony Bold</vt:lpstr>
      <vt:lpstr>Canva Sans Bold</vt:lpstr>
      <vt:lpstr>Calibri</vt:lpstr>
      <vt:lpstr>Arial</vt:lpstr>
      <vt:lpstr>Helvetica Now Bold</vt:lpstr>
      <vt:lpstr>Helvetica Now</vt:lpstr>
      <vt:lpstr>Times New Roman</vt:lpstr>
      <vt:lpstr>Helios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 Semester Check Point Evaluation Presentation Capstone</dc:title>
  <dc:creator>Sadikshya shrestha</dc:creator>
  <cp:lastModifiedBy>Shrestha, Sadikshya</cp:lastModifiedBy>
  <cp:revision>4</cp:revision>
  <dcterms:created xsi:type="dcterms:W3CDTF">2006-08-16T00:00:00Z</dcterms:created>
  <dcterms:modified xsi:type="dcterms:W3CDTF">2026-03-17T00:29:43Z</dcterms:modified>
  <dc:identifier>DAHEDL-ur5Q</dc:identifier>
</cp:coreProperties>
</file>